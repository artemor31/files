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D88"/>
    <a:srgbClr val="EADA9E"/>
    <a:srgbClr val="E8E5A0"/>
    <a:srgbClr val="B3D5B4"/>
    <a:srgbClr val="93C394"/>
    <a:srgbClr val="FFEDB3"/>
    <a:srgbClr val="FFDE75"/>
    <a:srgbClr val="A8AEC4"/>
    <a:srgbClr val="AAC2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C2E03-6B42-1698-717F-D6FA95621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4B889E-214E-6966-CA45-01507D4BF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E84FA6-A81B-FCDA-33E0-72D9102C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23A65F-DF76-F38E-8E20-982CB7CA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329EA7-7295-DEBC-1F1A-A2AFAD1A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565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952B3-E60D-582E-5A58-10B56A2D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F761A1-81C2-00F4-5E50-8A8B7C6D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4E3897-7EDC-96AB-81E0-089C2272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D38535-EECA-FA41-4764-B38A6B2B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952B01-93F9-2BFA-24C3-06739D9F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42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040ED-5B87-C560-DF35-934CD367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66A89C-C5E9-D14B-313E-9DE7C63DA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58AED4-7C5A-7EDF-FA7F-820BB4D8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727166-A176-170B-4BE4-B26EFF6E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8F3D7D-4074-FAA0-2DFC-4A16CE6A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22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3E528-C08A-69AC-2768-82646962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036377-4C9A-366F-B235-B686A326C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1DB9DF-F962-2BF6-E539-6053F36BE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89FC0B-EDA9-C587-341D-EFD95DAD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ECABA3-D770-FFED-4FA5-6588C0DC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100609-384B-C8D7-2DC6-0B3C4188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7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DB0E2-CD1A-295D-376D-3D614985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A66236-B218-F89C-F1D6-1211CFC10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2FD929-747F-91AA-30B4-832B341E0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84FCF4-C264-8200-88ED-1C91E23E3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AD8C05A-3E1C-0C6A-C535-44881B54D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F73D5E-0EEB-F529-3688-36BF913F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A024AA9-F1B8-3DD0-E4A5-E5FC6E73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747184-76F3-EE61-2A79-A7927531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85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6B12B-2991-C956-EA40-309553DA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433F2A-6A11-4F43-9F8E-3C20D57B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0EF943-C484-FDFB-8E53-A734ADB7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E4E2CB-EF74-E862-32CF-0867D968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22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ECF6C5-05FA-CD72-0172-F456D597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14E6A-5CF2-31DB-EAA7-EF6F2BAD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E6231F-3106-C7FD-F2C7-EA54D10F9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48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E0AB0-6E2E-8FBA-D425-7E6886D8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A1C64B-0FF0-F6DC-7CEE-7D0C8D36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40E671-26D0-91C1-3488-7F2ADFE4D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83417-274C-2D8A-CAAC-6F602B62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AD79C1-5E18-6245-17D7-E61E3840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9868EE-33EC-0281-9314-92F021D2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66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0DE31-A790-50CE-0E08-33A6E64E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AB8E8C-D93A-66AB-358A-5321BC23E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AE571F-2793-256E-D231-B00F3E14C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BD4B2E-4ABD-23BF-CBD0-A90CEB36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E29B68-017E-725D-A71E-167C324D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366533-AB09-D728-950A-F1A10A59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21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8FF22-BEDC-C7F6-089D-AACB2B5F7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1C3460-49ED-7EFE-88A4-AE0DD5EF9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B85642-552B-543E-985F-D85AB5F8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7D5B2B-7595-1257-1518-02FC1D4C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F805D3-52BD-ED05-3BB5-207A6657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23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BB17B1-5529-80E5-E3E3-A7F5C7F12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FE8106-E589-4F05-9E7A-4986A0F42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5BE1F8-F120-6EF9-EABB-E11E1931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68F17E-E2B1-8B1D-8993-3C17FC1B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911D61-2DEA-ED8F-7179-7B69F302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30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54338-6B8C-3C9C-77E5-D5C9235B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2F4944-617B-97EE-C15E-A32561E42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FB5C51-B12B-9AA8-62DA-36AB97D1C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A6E1B-0D88-4A34-B162-82492BF04209}" type="datetimeFigureOut">
              <a:rPr lang="ru-RU" smtClean="0"/>
              <a:t>07.06.2022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C4C604-63EF-88FA-D3AC-94837189F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E87D7-C33A-972C-D3C4-F6050DABD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03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3E9B3B9-D3FD-48DC-6B76-B7BB4B4F02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DA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682D9-3AF2-17C8-1910-45694FC04421}"/>
              </a:ext>
            </a:extLst>
          </p:cNvPr>
          <p:cNvSpPr txBox="1"/>
          <p:nvPr/>
        </p:nvSpPr>
        <p:spPr>
          <a:xfrm>
            <a:off x="550506" y="472008"/>
            <a:ext cx="11308702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000" b="1" dirty="0">
                <a:latin typeface="Arial Nova Light" panose="020B0604020202020204" pitchFamily="34" charset="0"/>
              </a:rPr>
              <a:t>«БЕЛГОРОДСКИЙ ГОСУДАРСТВЕННЫЙ ТЕХНОЛОГИЧЕСКИЙ УНИВЕРСИТЕТ им. В.Г. ШУХОВА»</a:t>
            </a:r>
            <a:endParaRPr lang="en-US" sz="2000" b="1" dirty="0">
              <a:latin typeface="Arial Nova Light" panose="020B0604020202020204" pitchFamily="34" charset="0"/>
            </a:endParaRPr>
          </a:p>
          <a:p>
            <a:r>
              <a:rPr lang="ru-RU" sz="2000" b="1" dirty="0">
                <a:latin typeface="Arial Nova Light" panose="020B0604020202020204" pitchFamily="34" charset="0"/>
              </a:rPr>
              <a:t>Институт энергетики, информационных технологий и управляющих систем</a:t>
            </a:r>
            <a:endParaRPr lang="en-US" sz="2000" b="1" dirty="0">
              <a:latin typeface="Arial Nova Light" panose="020B0604020202020204" pitchFamily="34" charset="0"/>
            </a:endParaRPr>
          </a:p>
          <a:p>
            <a:r>
              <a:rPr lang="ru-RU" sz="2000" b="1" dirty="0">
                <a:latin typeface="Arial Nova Light" panose="020B0604020202020204" pitchFamily="34" charset="0"/>
              </a:rPr>
              <a:t>Кафедра информационных технологий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1641F-13BA-31BE-152B-DDCC04E98930}"/>
              </a:ext>
            </a:extLst>
          </p:cNvPr>
          <p:cNvSpPr txBox="1"/>
          <p:nvPr/>
        </p:nvSpPr>
        <p:spPr>
          <a:xfrm>
            <a:off x="550506" y="2828835"/>
            <a:ext cx="11582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 Narrow" panose="020B0606020202030204" pitchFamily="34" charset="0"/>
              </a:rPr>
              <a:t>ВЫПУСКНАЯ КВАЛИФИКАЦИОННАЯ РАБОТА</a:t>
            </a:r>
          </a:p>
          <a:p>
            <a:r>
              <a:rPr lang="ru-RU" sz="2400" b="1" dirty="0">
                <a:latin typeface="Arial Narrow" panose="020B0606020202030204" pitchFamily="34" charset="0"/>
              </a:rPr>
              <a:t>«ПОДСИСТЕМА УПРАВЛЕНИЯ ПОЕЗДОМ В СИМУЛЯТОРЕ МОСКОВСКОГО МЕТРОПОЛИТЕНА» </a:t>
            </a:r>
            <a:endParaRPr lang="ru-RU" sz="2800" b="1" dirty="0"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BA6D05-F6BA-9441-02DA-7B2811AAC74D}"/>
              </a:ext>
            </a:extLst>
          </p:cNvPr>
          <p:cNvSpPr txBox="1"/>
          <p:nvPr/>
        </p:nvSpPr>
        <p:spPr>
          <a:xfrm>
            <a:off x="550506" y="4943449"/>
            <a:ext cx="4292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Дипломник: ст. гр. ИТ-42 </a:t>
            </a:r>
            <a:r>
              <a:rPr lang="ru-RU" sz="2000" b="1" dirty="0" err="1">
                <a:latin typeface="Arial Narrow" panose="020B0606020202030204" pitchFamily="34" charset="0"/>
              </a:rPr>
              <a:t>Богунов</a:t>
            </a:r>
            <a:r>
              <a:rPr lang="ru-RU" sz="2000" b="1" dirty="0">
                <a:latin typeface="Arial Narrow" panose="020B0606020202030204" pitchFamily="34" charset="0"/>
              </a:rPr>
              <a:t> А.А. </a:t>
            </a:r>
          </a:p>
          <a:p>
            <a:r>
              <a:rPr lang="ru-RU" sz="2000" b="1" dirty="0">
                <a:latin typeface="Arial Narrow" panose="020B0606020202030204" pitchFamily="34" charset="0"/>
              </a:rPr>
              <a:t>Руководитель: ст. пр. Подгорный Н.Н.</a:t>
            </a:r>
            <a:endParaRPr lang="ru-RU" sz="2400" b="1" dirty="0">
              <a:latin typeface="Arial Narrow" panose="020B0606020202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1BE41-CEF9-B6F8-B016-BECB05F43BB4}"/>
              </a:ext>
            </a:extLst>
          </p:cNvPr>
          <p:cNvSpPr txBox="1"/>
          <p:nvPr/>
        </p:nvSpPr>
        <p:spPr>
          <a:xfrm>
            <a:off x="5240693" y="6047438"/>
            <a:ext cx="17106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 Nova Light" panose="020B0304020202020204" pitchFamily="34" charset="0"/>
              </a:rPr>
              <a:t>БЕЛГОРОД 2022</a:t>
            </a:r>
            <a:endParaRPr lang="ru-RU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77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A108B3-5818-6264-1CD6-3D23BFF1B2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3D5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0066BD-3270-2326-403B-286F6C79ABE4}"/>
              </a:ext>
            </a:extLst>
          </p:cNvPr>
          <p:cNvSpPr/>
          <p:nvPr/>
        </p:nvSpPr>
        <p:spPr>
          <a:xfrm>
            <a:off x="0" y="331978"/>
            <a:ext cx="5791201" cy="744878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3128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ЦЕЛИ И ЗАДАЧИ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C1988-801B-D566-CFD9-ADD114A1C611}"/>
              </a:ext>
            </a:extLst>
          </p:cNvPr>
          <p:cNvSpPr txBox="1"/>
          <p:nvPr/>
        </p:nvSpPr>
        <p:spPr>
          <a:xfrm>
            <a:off x="314129" y="1175793"/>
            <a:ext cx="11563741" cy="422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Целью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 данной работы является </a:t>
            </a:r>
          </a:p>
          <a:p>
            <a:pPr>
              <a:lnSpc>
                <a:spcPct val="150000"/>
              </a:lnSpc>
            </a:pPr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Основные задачи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Разработка системы движения объекта поезда по сплайну;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Разработка модуля, отвечающего за управление поездом;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Реализация различных моделей ввода пользователя;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Разработка подсистем для взаимодействия с вспомогательным функционалом поезда;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Создание технической документации по разработанному сервису, соответствующей ЕСПД;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Написание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unit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-тестов для автоматизации тестирования системы.</a:t>
            </a:r>
          </a:p>
          <a:p>
            <a:endParaRPr lang="ru-RU" sz="3200" dirty="0">
              <a:latin typeface="Arial Narrow" panose="020B0606020202030204" pitchFamily="34" charset="0"/>
              <a:cs typeface="Gautam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2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C7225EE-EF76-125E-AF59-4682D919DC33}"/>
              </a:ext>
            </a:extLst>
          </p:cNvPr>
          <p:cNvGrpSpPr/>
          <p:nvPr/>
        </p:nvGrpSpPr>
        <p:grpSpPr>
          <a:xfrm>
            <a:off x="11706808" y="223946"/>
            <a:ext cx="186613" cy="757713"/>
            <a:chOff x="11706808" y="223946"/>
            <a:chExt cx="186613" cy="757713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AA0B1644-47E5-4216-5AA9-FBD3CED3190E}"/>
                </a:ext>
              </a:extLst>
            </p:cNvPr>
            <p:cNvSpPr/>
            <p:nvPr/>
          </p:nvSpPr>
          <p:spPr>
            <a:xfrm>
              <a:off x="11706808" y="2239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C222AC4F-DDDB-2EC3-D299-6ED4C3202D27}"/>
                </a:ext>
              </a:extLst>
            </p:cNvPr>
            <p:cNvSpPr/>
            <p:nvPr/>
          </p:nvSpPr>
          <p:spPr>
            <a:xfrm>
              <a:off x="11706808" y="50949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5BA4AD12-363A-674E-94DA-A930B7C4A9AB}"/>
                </a:ext>
              </a:extLst>
            </p:cNvPr>
            <p:cNvSpPr/>
            <p:nvPr/>
          </p:nvSpPr>
          <p:spPr>
            <a:xfrm>
              <a:off x="11706808" y="7950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56536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A108B3-5818-6264-1CD6-3D23BFF1B2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3D5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8697CB2-014E-11E1-D199-D5C53736F2F2}"/>
              </a:ext>
            </a:extLst>
          </p:cNvPr>
          <p:cNvSpPr/>
          <p:nvPr/>
        </p:nvSpPr>
        <p:spPr>
          <a:xfrm>
            <a:off x="0" y="331978"/>
            <a:ext cx="5791201" cy="744878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3128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АНАЛОГИ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30C3D28-0587-06D7-6BF2-E2F6340EFA69}"/>
              </a:ext>
            </a:extLst>
          </p:cNvPr>
          <p:cNvSpPr/>
          <p:nvPr/>
        </p:nvSpPr>
        <p:spPr>
          <a:xfrm>
            <a:off x="6996688" y="0"/>
            <a:ext cx="4258718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6F2614-F05A-4767-F0FF-70E8E93E5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064" y="996805"/>
            <a:ext cx="3159967" cy="1751307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355F4D4-876D-470F-DE09-5C382F16A0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"/>
          <a:stretch/>
        </p:blipFill>
        <p:spPr bwMode="auto">
          <a:xfrm>
            <a:off x="7546064" y="2875102"/>
            <a:ext cx="2248470" cy="1739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4F4A66B-7F6B-E7D4-4DFE-DFE78FB20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064" y="4741721"/>
            <a:ext cx="3240970" cy="17596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F10780-CB9F-E245-DE43-F42934A217DF}"/>
              </a:ext>
            </a:extLst>
          </p:cNvPr>
          <p:cNvSpPr txBox="1"/>
          <p:nvPr/>
        </p:nvSpPr>
        <p:spPr>
          <a:xfrm>
            <a:off x="304800" y="1178002"/>
            <a:ext cx="66918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1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Subway Simulator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07A9B1-7C56-9514-110B-57F2301EDF14}"/>
              </a:ext>
            </a:extLst>
          </p:cNvPr>
          <p:cNvSpPr txBox="1"/>
          <p:nvPr/>
        </p:nvSpPr>
        <p:spPr>
          <a:xfrm>
            <a:off x="304800" y="2919374"/>
            <a:ext cx="66918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Учебный тренажёр для машиниста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449198-BBA2-AE64-66D6-31DB6EEE4F20}"/>
              </a:ext>
            </a:extLst>
          </p:cNvPr>
          <p:cNvSpPr txBox="1"/>
          <p:nvPr/>
        </p:nvSpPr>
        <p:spPr>
          <a:xfrm>
            <a:off x="304800" y="4701680"/>
            <a:ext cx="660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Hmmsim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Metro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26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61A3C7-4E6B-85AD-DD84-08739ED10AC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EADA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480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КОНТЕКТНАЯ ДИАГРАММА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4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AA2A5B1-35AB-C6EC-6827-E8342CAAF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39" y="1061950"/>
            <a:ext cx="10688320" cy="512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8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A108B3-5818-6264-1CD6-3D23BFF1B2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3D5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0066BD-3270-2326-403B-286F6C79ABE4}"/>
              </a:ext>
            </a:extLst>
          </p:cNvPr>
          <p:cNvSpPr/>
          <p:nvPr/>
        </p:nvSpPr>
        <p:spPr>
          <a:xfrm>
            <a:off x="0" y="331978"/>
            <a:ext cx="5791201" cy="744878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6366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БАЗА ДАННЫХ </a:t>
            </a:r>
            <a:r>
              <a:rPr lang="ru-RU" sz="3600" b="1" dirty="0">
                <a:latin typeface="Arial Narrow" panose="020B0606020202030204" pitchFamily="34" charset="0"/>
              </a:rPr>
              <a:t>(измени, если что)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C1988-801B-D566-CFD9-ADD114A1C611}"/>
              </a:ext>
            </a:extLst>
          </p:cNvPr>
          <p:cNvSpPr txBox="1"/>
          <p:nvPr/>
        </p:nvSpPr>
        <p:spPr>
          <a:xfrm>
            <a:off x="314129" y="1175793"/>
            <a:ext cx="1156374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Тут какая-то картинка была у чела</a:t>
            </a:r>
          </a:p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Добавь что-то своё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5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14CC9C3D-7843-D40E-1A75-EFACF5EF5597}"/>
              </a:ext>
            </a:extLst>
          </p:cNvPr>
          <p:cNvGrpSpPr/>
          <p:nvPr/>
        </p:nvGrpSpPr>
        <p:grpSpPr>
          <a:xfrm>
            <a:off x="11706808" y="223946"/>
            <a:ext cx="186613" cy="757713"/>
            <a:chOff x="11706808" y="223946"/>
            <a:chExt cx="186613" cy="757713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BA6C340B-EC38-F294-1958-3F5AA9D8C4A0}"/>
                </a:ext>
              </a:extLst>
            </p:cNvPr>
            <p:cNvSpPr/>
            <p:nvPr/>
          </p:nvSpPr>
          <p:spPr>
            <a:xfrm>
              <a:off x="11706808" y="2239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C30F2E32-58D4-E0E6-2F99-80F2B537C4FE}"/>
                </a:ext>
              </a:extLst>
            </p:cNvPr>
            <p:cNvSpPr/>
            <p:nvPr/>
          </p:nvSpPr>
          <p:spPr>
            <a:xfrm>
              <a:off x="11706808" y="50949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B9D2B621-BEBF-CE00-7DD1-D8934E44A257}"/>
                </a:ext>
              </a:extLst>
            </p:cNvPr>
            <p:cNvSpPr/>
            <p:nvPr/>
          </p:nvSpPr>
          <p:spPr>
            <a:xfrm>
              <a:off x="11706808" y="7950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3065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A108B3-5818-6264-1CD6-3D23BFF1B2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3D5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0066BD-3270-2326-403B-286F6C79ABE4}"/>
              </a:ext>
            </a:extLst>
          </p:cNvPr>
          <p:cNvSpPr/>
          <p:nvPr/>
        </p:nvSpPr>
        <p:spPr>
          <a:xfrm>
            <a:off x="0" y="331978"/>
            <a:ext cx="5791201" cy="744878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5486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ИНТЕРФЕЙС (измени, если что)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C1988-801B-D566-CFD9-ADD114A1C611}"/>
              </a:ext>
            </a:extLst>
          </p:cNvPr>
          <p:cNvSpPr txBox="1"/>
          <p:nvPr/>
        </p:nvSpPr>
        <p:spPr>
          <a:xfrm>
            <a:off x="314129" y="1175793"/>
            <a:ext cx="1156374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Опять же, какая-то картинка у чела</a:t>
            </a:r>
          </a:p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Добавь что-то своё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98F5A6-20C9-9C82-5E14-EDF0CB7FB03C}"/>
              </a:ext>
            </a:extLst>
          </p:cNvPr>
          <p:cNvSpPr/>
          <p:nvPr/>
        </p:nvSpPr>
        <p:spPr>
          <a:xfrm>
            <a:off x="11941629" y="0"/>
            <a:ext cx="93306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76205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61A3C7-4E6B-85AD-DD84-08739ED10AC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8BD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480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ИТОГИ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B498D-5736-7ABB-6631-1FFD80E1DD9B}"/>
              </a:ext>
            </a:extLst>
          </p:cNvPr>
          <p:cNvSpPr txBox="1"/>
          <p:nvPr/>
        </p:nvSpPr>
        <p:spPr>
          <a:xfrm>
            <a:off x="314129" y="1175793"/>
            <a:ext cx="1156374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Не нашла в дипломе, вставь, пожалуйста</a:t>
            </a:r>
            <a:endParaRPr lang="ru-RU" sz="3200" dirty="0">
              <a:latin typeface="Arial Narrow" panose="020B0606020202030204" pitchFamily="34" charset="0"/>
              <a:cs typeface="Gautam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494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188</Words>
  <Application>Microsoft Office PowerPoint</Application>
  <PresentationFormat>Широкоэкранный</PresentationFormat>
  <Paragraphs>36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Arial Narrow</vt:lpstr>
      <vt:lpstr>Arial Nova Light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Татьяна Сергеевна Уманец</dc:creator>
  <cp:lastModifiedBy>Татьяна Сергеевна Уманец</cp:lastModifiedBy>
  <cp:revision>5</cp:revision>
  <dcterms:created xsi:type="dcterms:W3CDTF">2022-06-04T14:45:18Z</dcterms:created>
  <dcterms:modified xsi:type="dcterms:W3CDTF">2022-06-07T08:50:42Z</dcterms:modified>
</cp:coreProperties>
</file>