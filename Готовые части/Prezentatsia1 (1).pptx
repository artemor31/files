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4" r:id="rId7"/>
    <p:sldId id="262" r:id="rId8"/>
    <p:sldId id="263" r:id="rId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BD88"/>
    <a:srgbClr val="EADA9E"/>
    <a:srgbClr val="E8E5A0"/>
    <a:srgbClr val="B3D5B4"/>
    <a:srgbClr val="93C394"/>
    <a:srgbClr val="FFEDB3"/>
    <a:srgbClr val="FFDE75"/>
    <a:srgbClr val="A8AEC4"/>
    <a:srgbClr val="AAC2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5758FB7-9AC5-4552-8A53-C91805E547FA}" styleName="Стиль из темы 1 - акцент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616DA210-FB5B-4158-B5E0-FEB733F419BA}" styleName="Светлый стиль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3C2E03-6B42-1698-717F-D6FA956213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94B889E-214E-6966-CA45-01507D4BF3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2E84FA6-A81B-FCDA-33E0-72D9102C1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08.06.2022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923A65F-DF76-F38E-8E20-982CB7CA62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2329EA7-7295-DEBC-1F1A-A2AFAD1AF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25655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7952B3-E60D-582E-5A58-10B56A2D4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1F761A1-81C2-00F4-5E50-8A8B7C6DFD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4E3897-7EDC-96AB-81E0-089C2272C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08.06.2022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0D38535-EECA-FA41-4764-B38A6B2BE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D952B01-93F9-2BFA-24C3-06739D9FD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8422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E040ED-5B87-C560-DF35-934CD367B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D66A89C-C5E9-D14B-313E-9DE7C63DAB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758AED4-7C5A-7EDF-FA7F-820BB4D84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08.06.2022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4727166-A176-170B-4BE4-B26EFF6E2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C8F3D7D-4074-FAA0-2DFC-4A16CE6A18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42247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E3E528-C08A-69AC-2768-82646962F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2036377-4C9A-366F-B235-B686A326CF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51DB9DF-F962-2BF6-E539-6053F36BEA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A89FC0B-EDA9-C587-341D-EFD95DADF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08.06.2022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BECABA3-D770-FFED-4FA5-6588C0DC81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1100609-384B-C8D7-2DC6-0B3C41881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47081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9DB0E2-CD1A-295D-376D-3D6149850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EA66236-B218-F89C-F1D6-1211CFC107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82FD929-747F-91AA-30B4-832B341E06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184FCF4-C264-8200-88ED-1C91E23E30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AD8C05A-3E1C-0C6A-C535-44881B54D4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0F73D5E-0EEB-F529-3688-36BF913F5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08.06.2022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A024AA9-F1B8-3DD0-E4A5-E5FC6E73A9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24747184-76F3-EE61-2A79-A7927531F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08525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D16B12B-2991-C956-EA40-309553DA9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9433F2A-6A11-4F43-9F8E-3C20D57BA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08.06.2022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B0EF943-C484-FDFB-8E53-A734ADB73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3E4E2CB-EF74-E862-32CF-0867D968C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7221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BECF6C5-05FA-CD72-0172-F456D597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08.06.2022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D0614E6A-5CF2-31DB-EAA7-EF6F2BAD6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E6231F-3106-C7FD-F2C7-EA54D10F9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2485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AE0AB0-6E2E-8FBA-D425-7E6886D82E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4A1C64B-0FF0-F6DC-7CEE-7D0C8D36F5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40E671-26D0-91C1-3488-7F2ADFE4D9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4C83417-274C-2D8A-CAAC-6F602B62F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08.06.2022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0AD79C1-5E18-6245-17D7-E61E38406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49868EE-33EC-0281-9314-92F021D2E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2667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50DE31-A790-50CE-0E08-33A6E64EC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5AB8E8C-D93A-66AB-358A-5321BC23EA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4AE571F-2793-256E-D231-B00F3E14C1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1BD4B2E-4ABD-23BF-CBD0-A90CEB369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08.06.2022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BE29B68-017E-725D-A71E-167C324D9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4366533-AB09-D728-950A-F1A10A594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4218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E68FF22-BEDC-C7F6-089D-AACB2B5F7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E1C3460-49ED-7EFE-88A4-AE0DD5EF9D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5B85642-552B-543E-985F-D85AB5F81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08.06.2022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37D5B2B-7595-1257-1518-02FC1D4C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4F805D3-52BD-ED05-3BB5-207A6657C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2310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AFBB17B1-5529-80E5-E3E3-A7F5C7F129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5FE8106-E589-4F05-9E7A-4986A0F425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B5BE1F8-F120-6EF9-EABB-E11E1931B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08.06.2022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768F17E-E2B1-8B1D-8993-3C17FC1B9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6911D61-2DEA-ED8F-7179-7B69F3029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73075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654338-6B8C-3C9C-77E5-D5C9235BE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02F4944-617B-97EE-C15E-A32561E422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CFB5C51-B12B-9AA8-62DA-36AB97D1C9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4A6E1B-0D88-4A34-B162-82492BF04209}" type="datetimeFigureOut">
              <a:rPr lang="ru-RU" smtClean="0"/>
              <a:t>08.06.2022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1C4C604-63EF-88FA-D3AC-94837189F1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EDE87D7-C33A-972C-D3C4-F6050DABD8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9036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03E9B3B9-D3FD-48DC-6B76-B7BB4B4F024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ADA9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9682D9-3AF2-17C8-1910-45694FC04421}"/>
              </a:ext>
            </a:extLst>
          </p:cNvPr>
          <p:cNvSpPr txBox="1"/>
          <p:nvPr/>
        </p:nvSpPr>
        <p:spPr>
          <a:xfrm>
            <a:off x="550506" y="472008"/>
            <a:ext cx="11308702" cy="10156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ru-RU" sz="2000" b="1" dirty="0">
                <a:latin typeface="Arial Nova Light" panose="020B0604020202020204" pitchFamily="34" charset="0"/>
              </a:rPr>
              <a:t>«БЕЛГОРОДСКИЙ ГОСУДАРСТВЕННЫЙ ТЕХНОЛОГИЧЕСКИЙ УНИВЕРСИТЕТ им. В.Г. ШУХОВА»</a:t>
            </a:r>
            <a:endParaRPr lang="en-US" sz="2000" b="1" dirty="0">
              <a:latin typeface="Arial Nova Light" panose="020B0604020202020204" pitchFamily="34" charset="0"/>
            </a:endParaRPr>
          </a:p>
          <a:p>
            <a:r>
              <a:rPr lang="ru-RU" sz="2000" b="1" dirty="0">
                <a:latin typeface="Arial Nova Light" panose="020B0604020202020204" pitchFamily="34" charset="0"/>
              </a:rPr>
              <a:t>Институт энергетики, информационных технологий и управляющих систем</a:t>
            </a:r>
            <a:endParaRPr lang="en-US" sz="2000" b="1" dirty="0">
              <a:latin typeface="Arial Nova Light" panose="020B0604020202020204" pitchFamily="34" charset="0"/>
            </a:endParaRPr>
          </a:p>
          <a:p>
            <a:r>
              <a:rPr lang="ru-RU" sz="2000" b="1" dirty="0">
                <a:latin typeface="Arial Nova Light" panose="020B0604020202020204" pitchFamily="34" charset="0"/>
              </a:rPr>
              <a:t>Кафедра информационных технологий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11641F-13BA-31BE-152B-DDCC04E98930}"/>
              </a:ext>
            </a:extLst>
          </p:cNvPr>
          <p:cNvSpPr txBox="1"/>
          <p:nvPr/>
        </p:nvSpPr>
        <p:spPr>
          <a:xfrm>
            <a:off x="550506" y="2828835"/>
            <a:ext cx="115824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Arial Narrow" panose="020B0606020202030204" pitchFamily="34" charset="0"/>
              </a:rPr>
              <a:t>ВЫПУСКНАЯ КВАЛИФИКАЦИОННАЯ РАБОТА</a:t>
            </a:r>
          </a:p>
          <a:p>
            <a:r>
              <a:rPr lang="ru-RU" sz="2400" b="1" dirty="0">
                <a:latin typeface="Arial Narrow" panose="020B0606020202030204" pitchFamily="34" charset="0"/>
              </a:rPr>
              <a:t>«ПОДСИСТЕМА УПРАВЛЕНИЯ ПОЕЗДОМ В СИМУЛЯТОРЕ МОСКОВСКОГО МЕТРОПОЛИТЕНА» </a:t>
            </a:r>
            <a:endParaRPr lang="ru-RU" sz="2800" b="1" dirty="0"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BA6D05-F6BA-9441-02DA-7B2811AAC74D}"/>
              </a:ext>
            </a:extLst>
          </p:cNvPr>
          <p:cNvSpPr txBox="1"/>
          <p:nvPr/>
        </p:nvSpPr>
        <p:spPr>
          <a:xfrm>
            <a:off x="550506" y="4943449"/>
            <a:ext cx="429208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>
                <a:latin typeface="Arial Narrow" panose="020B0606020202030204" pitchFamily="34" charset="0"/>
              </a:rPr>
              <a:t>Дипломник: ст. гр. ИТ-42 </a:t>
            </a:r>
            <a:r>
              <a:rPr lang="ru-RU" sz="2000" b="1" dirty="0" err="1">
                <a:latin typeface="Arial Narrow" panose="020B0606020202030204" pitchFamily="34" charset="0"/>
              </a:rPr>
              <a:t>Богунов</a:t>
            </a:r>
            <a:r>
              <a:rPr lang="ru-RU" sz="2000" b="1" dirty="0">
                <a:latin typeface="Arial Narrow" panose="020B0606020202030204" pitchFamily="34" charset="0"/>
              </a:rPr>
              <a:t> А.А. </a:t>
            </a:r>
          </a:p>
          <a:p>
            <a:r>
              <a:rPr lang="ru-RU" sz="2000" b="1" dirty="0">
                <a:latin typeface="Arial Narrow" panose="020B0606020202030204" pitchFamily="34" charset="0"/>
              </a:rPr>
              <a:t>Руководитель: ст. пр. Подгорный Н.Н.</a:t>
            </a:r>
            <a:endParaRPr lang="ru-RU" sz="2400" b="1" dirty="0">
              <a:latin typeface="Arial Narrow" panose="020B0606020202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51BE41-CEF9-B6F8-B016-BECB05F43BB4}"/>
              </a:ext>
            </a:extLst>
          </p:cNvPr>
          <p:cNvSpPr txBox="1"/>
          <p:nvPr/>
        </p:nvSpPr>
        <p:spPr>
          <a:xfrm>
            <a:off x="5240693" y="6047438"/>
            <a:ext cx="171061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latin typeface="Arial Nova Light" panose="020B0304020202020204" pitchFamily="34" charset="0"/>
              </a:rPr>
              <a:t>БЕЛГОРОД 2022</a:t>
            </a:r>
            <a:endParaRPr lang="ru-RU" dirty="0">
              <a:latin typeface="Arial Nova Light" panose="020B03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778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8A108B3-5818-6264-1CD6-3D23BFF1B25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3D5B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A0066BD-3270-2326-403B-286F6C79ABE4}"/>
              </a:ext>
            </a:extLst>
          </p:cNvPr>
          <p:cNvSpPr/>
          <p:nvPr/>
        </p:nvSpPr>
        <p:spPr>
          <a:xfrm>
            <a:off x="0" y="331978"/>
            <a:ext cx="5791201" cy="744878"/>
          </a:xfrm>
          <a:prstGeom prst="rect">
            <a:avLst/>
          </a:prstGeom>
          <a:solidFill>
            <a:schemeClr val="accent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312886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latin typeface="Arial Narrow" panose="020B0606020202030204" pitchFamily="34" charset="0"/>
              </a:rPr>
              <a:t>ЦЕЛИ И ЗАДАЧИ</a:t>
            </a:r>
            <a:endParaRPr lang="ru-RU" sz="3600" b="1" dirty="0">
              <a:latin typeface="Arial Narrow" panose="020B0606020202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2C1988-801B-D566-CFD9-ADD114A1C611}"/>
              </a:ext>
            </a:extLst>
          </p:cNvPr>
          <p:cNvSpPr txBox="1"/>
          <p:nvPr/>
        </p:nvSpPr>
        <p:spPr>
          <a:xfrm>
            <a:off x="314129" y="1175793"/>
            <a:ext cx="11563741" cy="4225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600" b="1" dirty="0">
                <a:latin typeface="Arial" panose="020B0604020202020204" pitchFamily="34" charset="0"/>
                <a:cs typeface="Arial" panose="020B0604020202020204" pitchFamily="34" charset="0"/>
              </a:rPr>
              <a:t>Целью</a:t>
            </a:r>
            <a:r>
              <a:rPr lang="ru-RU" sz="2600" dirty="0">
                <a:latin typeface="Arial" panose="020B0604020202020204" pitchFamily="34" charset="0"/>
                <a:cs typeface="Arial" panose="020B0604020202020204" pitchFamily="34" charset="0"/>
              </a:rPr>
              <a:t> данной работы является </a:t>
            </a:r>
          </a:p>
          <a:p>
            <a:pPr>
              <a:lnSpc>
                <a:spcPct val="150000"/>
              </a:lnSpc>
            </a:pPr>
            <a:r>
              <a:rPr lang="ru-RU" sz="2600" b="1" dirty="0">
                <a:latin typeface="Arial" panose="020B0604020202020204" pitchFamily="34" charset="0"/>
                <a:cs typeface="Arial" panose="020B0604020202020204" pitchFamily="34" charset="0"/>
              </a:rPr>
              <a:t>Основные задачи</a:t>
            </a:r>
            <a:r>
              <a:rPr lang="ru-RU" sz="26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>
              <a:lnSpc>
                <a:spcPct val="130000"/>
              </a:lnSpc>
            </a:pPr>
            <a:r>
              <a:rPr lang="ru-RU" sz="2200" b="1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 Реализация ввода пользователя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30000"/>
              </a:lnSpc>
            </a:pPr>
            <a:r>
              <a:rPr lang="ru-RU" sz="2200" b="1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 Разработка модуля движения модели поезда; </a:t>
            </a:r>
          </a:p>
          <a:p>
            <a:pPr>
              <a:lnSpc>
                <a:spcPct val="130000"/>
              </a:lnSpc>
            </a:pPr>
            <a:r>
              <a:rPr lang="ru-RU" sz="2200" b="1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 Разработка модулей для взаимодействия с вспомогательными системами поезда</a:t>
            </a:r>
            <a:r>
              <a:rPr lang="en-US" sz="2000"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  <a:endParaRPr lang="ru-RU" sz="20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30000"/>
              </a:lnSpc>
            </a:pPr>
            <a:r>
              <a:rPr lang="ru-RU" sz="2200" b="1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 Внедрение подсистемы в симулятор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30000"/>
              </a:lnSpc>
            </a:pPr>
            <a:r>
              <a:rPr lang="ru-RU" sz="2200" b="1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 Связь модулей управления с визуальной частью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30000"/>
              </a:lnSpc>
            </a:pPr>
            <a:r>
              <a:rPr lang="ru-RU" sz="2200" b="1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 Написание </a:t>
            </a:r>
            <a:r>
              <a:rPr lang="ru-RU" sz="2000" dirty="0" err="1">
                <a:latin typeface="Arial" panose="020B0604020202020204" pitchFamily="34" charset="0"/>
                <a:cs typeface="Arial" panose="020B0604020202020204" pitchFamily="34" charset="0"/>
              </a:rPr>
              <a:t>unit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-тестов для автоматизации процесса тестирования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ru-RU" sz="3200" dirty="0">
              <a:latin typeface="Arial Narrow" panose="020B0606020202030204" pitchFamily="34" charset="0"/>
              <a:cs typeface="Gautam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2</a:t>
            </a: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9C7225EE-EF76-125E-AF59-4682D919DC33}"/>
              </a:ext>
            </a:extLst>
          </p:cNvPr>
          <p:cNvGrpSpPr/>
          <p:nvPr/>
        </p:nvGrpSpPr>
        <p:grpSpPr>
          <a:xfrm>
            <a:off x="11706808" y="223946"/>
            <a:ext cx="186613" cy="757713"/>
            <a:chOff x="11706808" y="223946"/>
            <a:chExt cx="186613" cy="757713"/>
          </a:xfrm>
        </p:grpSpPr>
        <p:sp>
          <p:nvSpPr>
            <p:cNvPr id="10" name="Овал 9">
              <a:extLst>
                <a:ext uri="{FF2B5EF4-FFF2-40B4-BE49-F238E27FC236}">
                  <a16:creationId xmlns:a16="http://schemas.microsoft.com/office/drawing/2014/main" id="{AA0B1644-47E5-4216-5AA9-FBD3CED3190E}"/>
                </a:ext>
              </a:extLst>
            </p:cNvPr>
            <p:cNvSpPr/>
            <p:nvPr/>
          </p:nvSpPr>
          <p:spPr>
            <a:xfrm>
              <a:off x="11706808" y="223946"/>
              <a:ext cx="186613" cy="186613"/>
            </a:xfrm>
            <a:prstGeom prst="ellipse">
              <a:avLst/>
            </a:prstGeom>
            <a:solidFill>
              <a:schemeClr val="tx2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C222AC4F-DDDB-2EC3-D299-6ED4C3202D27}"/>
                </a:ext>
              </a:extLst>
            </p:cNvPr>
            <p:cNvSpPr/>
            <p:nvPr/>
          </p:nvSpPr>
          <p:spPr>
            <a:xfrm>
              <a:off x="11706808" y="509496"/>
              <a:ext cx="186613" cy="186613"/>
            </a:xfrm>
            <a:prstGeom prst="ellipse">
              <a:avLst/>
            </a:prstGeom>
            <a:solidFill>
              <a:schemeClr val="tx2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5BA4AD12-363A-674E-94DA-A930B7C4A9AB}"/>
                </a:ext>
              </a:extLst>
            </p:cNvPr>
            <p:cNvSpPr/>
            <p:nvPr/>
          </p:nvSpPr>
          <p:spPr>
            <a:xfrm>
              <a:off x="11706808" y="795046"/>
              <a:ext cx="186613" cy="186613"/>
            </a:xfrm>
            <a:prstGeom prst="ellipse">
              <a:avLst/>
            </a:prstGeom>
            <a:solidFill>
              <a:schemeClr val="tx2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5653603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8A108B3-5818-6264-1CD6-3D23BFF1B25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3D5B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88697CB2-014E-11E1-D199-D5C53736F2F2}"/>
              </a:ext>
            </a:extLst>
          </p:cNvPr>
          <p:cNvSpPr/>
          <p:nvPr/>
        </p:nvSpPr>
        <p:spPr>
          <a:xfrm>
            <a:off x="0" y="331978"/>
            <a:ext cx="5791201" cy="744878"/>
          </a:xfrm>
          <a:prstGeom prst="rect">
            <a:avLst/>
          </a:prstGeom>
          <a:solidFill>
            <a:schemeClr val="accent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312886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latin typeface="Arial Narrow" panose="020B0606020202030204" pitchFamily="34" charset="0"/>
              </a:rPr>
              <a:t>АНАЛОГИ</a:t>
            </a:r>
            <a:endParaRPr lang="ru-RU" sz="3600" b="1" dirty="0">
              <a:latin typeface="Arial Narrow" panose="020B0606020202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3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30C3D28-0587-06D7-6BF2-E2F6340EFA69}"/>
              </a:ext>
            </a:extLst>
          </p:cNvPr>
          <p:cNvSpPr/>
          <p:nvPr/>
        </p:nvSpPr>
        <p:spPr>
          <a:xfrm>
            <a:off x="6996688" y="0"/>
            <a:ext cx="4258718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76F2614-F05A-4767-F0FF-70E8E93E5B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6064" y="996805"/>
            <a:ext cx="3159967" cy="1751307"/>
          </a:xfrm>
          <a:prstGeom prst="rect">
            <a:avLst/>
          </a:prstGeom>
        </p:spPr>
      </p:pic>
      <p:pic>
        <p:nvPicPr>
          <p:cNvPr id="15" name="Рисунок 14" descr="Изображение выглядит как текст&#10;&#10;Автоматически созданное описание">
            <a:extLst>
              <a:ext uri="{FF2B5EF4-FFF2-40B4-BE49-F238E27FC236}">
                <a16:creationId xmlns:a16="http://schemas.microsoft.com/office/drawing/2014/main" id="{C355F4D4-876D-470F-DE09-5C382F16A03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74"/>
          <a:stretch/>
        </p:blipFill>
        <p:spPr bwMode="auto">
          <a:xfrm>
            <a:off x="7546064" y="2875102"/>
            <a:ext cx="2248470" cy="173962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14F4A66B-7F6B-E7D4-4DFE-DFE78FB20B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6064" y="4741721"/>
            <a:ext cx="3240970" cy="175968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3F10780-CB9F-E245-DE43-F42934A217DF}"/>
              </a:ext>
            </a:extLst>
          </p:cNvPr>
          <p:cNvSpPr txBox="1"/>
          <p:nvPr/>
        </p:nvSpPr>
        <p:spPr>
          <a:xfrm>
            <a:off x="304800" y="1178002"/>
            <a:ext cx="669188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dirty="0">
                <a:latin typeface="Arial Black" panose="020B0A04020102020204" pitchFamily="34" charset="0"/>
                <a:cs typeface="Arial" panose="020B0604020202020204" pitchFamily="34" charset="0"/>
              </a:rPr>
              <a:t>1</a:t>
            </a:r>
            <a:r>
              <a:rPr lang="ru-RU" sz="3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Subway Simulator</a:t>
            </a:r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807A9B1-7C56-9514-110B-57F2301EDF14}"/>
              </a:ext>
            </a:extLst>
          </p:cNvPr>
          <p:cNvSpPr txBox="1"/>
          <p:nvPr/>
        </p:nvSpPr>
        <p:spPr>
          <a:xfrm>
            <a:off x="304800" y="2919374"/>
            <a:ext cx="669188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Arial Black" panose="020B0A04020102020204" pitchFamily="34" charset="0"/>
                <a:cs typeface="Arial" panose="020B0604020202020204" pitchFamily="34" charset="0"/>
              </a:rPr>
              <a:t>2</a:t>
            </a:r>
            <a:r>
              <a:rPr lang="ru-RU" sz="3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Учебный тренажёр для машиниста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9449198-BBA2-AE64-66D6-31DB6EEE4F20}"/>
              </a:ext>
            </a:extLst>
          </p:cNvPr>
          <p:cNvSpPr txBox="1"/>
          <p:nvPr/>
        </p:nvSpPr>
        <p:spPr>
          <a:xfrm>
            <a:off x="304800" y="4701680"/>
            <a:ext cx="6604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Arial Black" panose="020B0A04020102020204" pitchFamily="34" charset="0"/>
                <a:cs typeface="Arial" panose="020B0604020202020204" pitchFamily="34" charset="0"/>
              </a:rPr>
              <a:t>3</a:t>
            </a:r>
            <a:r>
              <a:rPr lang="ru-RU" sz="3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>
                <a:latin typeface="Arial" panose="020B0604020202020204" pitchFamily="34" charset="0"/>
                <a:cs typeface="Arial" panose="020B0604020202020204" pitchFamily="34" charset="0"/>
              </a:rPr>
              <a:t>Hmmsim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Metro</a:t>
            </a:r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8263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D61A3C7-4E6B-85AD-DD84-08739ED10AC7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EADA9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1" y="412030"/>
            <a:ext cx="480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latin typeface="Arial Narrow" panose="020B0606020202030204" pitchFamily="34" charset="0"/>
              </a:rPr>
              <a:t>КОНТЕКТНАЯ ДИАГРАММА</a:t>
            </a:r>
            <a:endParaRPr lang="ru-RU" sz="3600" b="1" dirty="0">
              <a:latin typeface="Arial Narrow" panose="020B0606020202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4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AA2A5B1-35AB-C6EC-6827-E8342CAAFF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839" y="1061950"/>
            <a:ext cx="10688320" cy="5121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5856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8A108B3-5818-6264-1CD6-3D23BFF1B25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3D5B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A0066BD-3270-2326-403B-286F6C79ABE4}"/>
              </a:ext>
            </a:extLst>
          </p:cNvPr>
          <p:cNvSpPr/>
          <p:nvPr/>
        </p:nvSpPr>
        <p:spPr>
          <a:xfrm>
            <a:off x="0" y="331978"/>
            <a:ext cx="5791201" cy="744878"/>
          </a:xfrm>
          <a:prstGeom prst="rect">
            <a:avLst/>
          </a:prstGeom>
          <a:solidFill>
            <a:schemeClr val="accent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4213" y="393842"/>
            <a:ext cx="79434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Ввод данных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5</a:t>
            </a:r>
          </a:p>
        </p:txBody>
      </p:sp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14CC9C3D-7843-D40E-1A75-EFACF5EF5597}"/>
              </a:ext>
            </a:extLst>
          </p:cNvPr>
          <p:cNvGrpSpPr/>
          <p:nvPr/>
        </p:nvGrpSpPr>
        <p:grpSpPr>
          <a:xfrm>
            <a:off x="11706808" y="223946"/>
            <a:ext cx="186613" cy="757713"/>
            <a:chOff x="11706808" y="223946"/>
            <a:chExt cx="186613" cy="757713"/>
          </a:xfrm>
        </p:grpSpPr>
        <p:sp>
          <p:nvSpPr>
            <p:cNvPr id="9" name="Овал 8">
              <a:extLst>
                <a:ext uri="{FF2B5EF4-FFF2-40B4-BE49-F238E27FC236}">
                  <a16:creationId xmlns:a16="http://schemas.microsoft.com/office/drawing/2014/main" id="{BA6C340B-EC38-F294-1958-3F5AA9D8C4A0}"/>
                </a:ext>
              </a:extLst>
            </p:cNvPr>
            <p:cNvSpPr/>
            <p:nvPr/>
          </p:nvSpPr>
          <p:spPr>
            <a:xfrm>
              <a:off x="11706808" y="223946"/>
              <a:ext cx="186613" cy="186613"/>
            </a:xfrm>
            <a:prstGeom prst="ellipse">
              <a:avLst/>
            </a:prstGeom>
            <a:solidFill>
              <a:schemeClr val="tx2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>
              <a:extLst>
                <a:ext uri="{FF2B5EF4-FFF2-40B4-BE49-F238E27FC236}">
                  <a16:creationId xmlns:a16="http://schemas.microsoft.com/office/drawing/2014/main" id="{C30F2E32-58D4-E0E6-2F99-80F2B537C4FE}"/>
                </a:ext>
              </a:extLst>
            </p:cNvPr>
            <p:cNvSpPr/>
            <p:nvPr/>
          </p:nvSpPr>
          <p:spPr>
            <a:xfrm>
              <a:off x="11706808" y="509496"/>
              <a:ext cx="186613" cy="186613"/>
            </a:xfrm>
            <a:prstGeom prst="ellipse">
              <a:avLst/>
            </a:prstGeom>
            <a:solidFill>
              <a:schemeClr val="tx2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Овал 18">
              <a:extLst>
                <a:ext uri="{FF2B5EF4-FFF2-40B4-BE49-F238E27FC236}">
                  <a16:creationId xmlns:a16="http://schemas.microsoft.com/office/drawing/2014/main" id="{B9D2B621-BEBF-CE00-7DD1-D8934E44A257}"/>
                </a:ext>
              </a:extLst>
            </p:cNvPr>
            <p:cNvSpPr/>
            <p:nvPr/>
          </p:nvSpPr>
          <p:spPr>
            <a:xfrm>
              <a:off x="11706808" y="795046"/>
              <a:ext cx="186613" cy="186613"/>
            </a:xfrm>
            <a:prstGeom prst="ellipse">
              <a:avLst/>
            </a:prstGeom>
            <a:solidFill>
              <a:schemeClr val="tx2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36887CF3-5465-38C0-17BD-37C03DE3F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952" y="1470698"/>
            <a:ext cx="9238095" cy="4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6504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8A108B3-5818-6264-1CD6-3D23BFF1B25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3D5B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A0066BD-3270-2326-403B-286F6C79ABE4}"/>
              </a:ext>
            </a:extLst>
          </p:cNvPr>
          <p:cNvSpPr/>
          <p:nvPr/>
        </p:nvSpPr>
        <p:spPr>
          <a:xfrm>
            <a:off x="0" y="331978"/>
            <a:ext cx="5791201" cy="744878"/>
          </a:xfrm>
          <a:prstGeom prst="rect">
            <a:avLst/>
          </a:prstGeom>
          <a:solidFill>
            <a:schemeClr val="accent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4213" y="393842"/>
            <a:ext cx="63665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Система движения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5</a:t>
            </a:r>
          </a:p>
        </p:txBody>
      </p:sp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14CC9C3D-7843-D40E-1A75-EFACF5EF5597}"/>
              </a:ext>
            </a:extLst>
          </p:cNvPr>
          <p:cNvGrpSpPr/>
          <p:nvPr/>
        </p:nvGrpSpPr>
        <p:grpSpPr>
          <a:xfrm>
            <a:off x="11706808" y="223946"/>
            <a:ext cx="186613" cy="757713"/>
            <a:chOff x="11706808" y="223946"/>
            <a:chExt cx="186613" cy="757713"/>
          </a:xfrm>
        </p:grpSpPr>
        <p:sp>
          <p:nvSpPr>
            <p:cNvPr id="9" name="Овал 8">
              <a:extLst>
                <a:ext uri="{FF2B5EF4-FFF2-40B4-BE49-F238E27FC236}">
                  <a16:creationId xmlns:a16="http://schemas.microsoft.com/office/drawing/2014/main" id="{BA6C340B-EC38-F294-1958-3F5AA9D8C4A0}"/>
                </a:ext>
              </a:extLst>
            </p:cNvPr>
            <p:cNvSpPr/>
            <p:nvPr/>
          </p:nvSpPr>
          <p:spPr>
            <a:xfrm>
              <a:off x="11706808" y="223946"/>
              <a:ext cx="186613" cy="186613"/>
            </a:xfrm>
            <a:prstGeom prst="ellipse">
              <a:avLst/>
            </a:prstGeom>
            <a:solidFill>
              <a:schemeClr val="tx2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>
              <a:extLst>
                <a:ext uri="{FF2B5EF4-FFF2-40B4-BE49-F238E27FC236}">
                  <a16:creationId xmlns:a16="http://schemas.microsoft.com/office/drawing/2014/main" id="{C30F2E32-58D4-E0E6-2F99-80F2B537C4FE}"/>
                </a:ext>
              </a:extLst>
            </p:cNvPr>
            <p:cNvSpPr/>
            <p:nvPr/>
          </p:nvSpPr>
          <p:spPr>
            <a:xfrm>
              <a:off x="11706808" y="509496"/>
              <a:ext cx="186613" cy="186613"/>
            </a:xfrm>
            <a:prstGeom prst="ellipse">
              <a:avLst/>
            </a:prstGeom>
            <a:solidFill>
              <a:schemeClr val="tx2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Овал 18">
              <a:extLst>
                <a:ext uri="{FF2B5EF4-FFF2-40B4-BE49-F238E27FC236}">
                  <a16:creationId xmlns:a16="http://schemas.microsoft.com/office/drawing/2014/main" id="{B9D2B621-BEBF-CE00-7DD1-D8934E44A257}"/>
                </a:ext>
              </a:extLst>
            </p:cNvPr>
            <p:cNvSpPr/>
            <p:nvPr/>
          </p:nvSpPr>
          <p:spPr>
            <a:xfrm>
              <a:off x="11706808" y="795046"/>
              <a:ext cx="186613" cy="186613"/>
            </a:xfrm>
            <a:prstGeom prst="ellipse">
              <a:avLst/>
            </a:prstGeom>
            <a:solidFill>
              <a:schemeClr val="tx2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C627B56-63AD-E2F5-9622-5B99C5603B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500" y="1668236"/>
            <a:ext cx="10555888" cy="3824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860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8A108B3-5818-6264-1CD6-3D23BFF1B25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3D5B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A0066BD-3270-2326-403B-286F6C79ABE4}"/>
              </a:ext>
            </a:extLst>
          </p:cNvPr>
          <p:cNvSpPr/>
          <p:nvPr/>
        </p:nvSpPr>
        <p:spPr>
          <a:xfrm>
            <a:off x="0" y="331978"/>
            <a:ext cx="5791201" cy="744878"/>
          </a:xfrm>
          <a:prstGeom prst="rect">
            <a:avLst/>
          </a:prstGeom>
          <a:solidFill>
            <a:schemeClr val="accent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54864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Подсистемы управления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898F5A6-20C9-9C82-5E14-EDF0CB7FB03C}"/>
              </a:ext>
            </a:extLst>
          </p:cNvPr>
          <p:cNvSpPr/>
          <p:nvPr/>
        </p:nvSpPr>
        <p:spPr>
          <a:xfrm>
            <a:off x="11941629" y="0"/>
            <a:ext cx="93306" cy="68580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6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0DA63EB-A092-44B7-1EBD-A6419283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1478" y="1257904"/>
            <a:ext cx="7902268" cy="54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2056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D61A3C7-4E6B-85AD-DD84-08739ED10AC7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1" y="412030"/>
            <a:ext cx="480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latin typeface="Arial Narrow" panose="020B0606020202030204" pitchFamily="34" charset="0"/>
              </a:rPr>
              <a:t>ИТОГИ</a:t>
            </a:r>
            <a:endParaRPr lang="ru-RU" sz="3600" b="1" dirty="0">
              <a:latin typeface="Arial Narrow" panose="020B0606020202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7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9B498D-5736-7ABB-6631-1FFD80E1DD9B}"/>
              </a:ext>
            </a:extLst>
          </p:cNvPr>
          <p:cNvSpPr txBox="1"/>
          <p:nvPr/>
        </p:nvSpPr>
        <p:spPr>
          <a:xfrm>
            <a:off x="314129" y="1175793"/>
            <a:ext cx="11563741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600" b="1" dirty="0">
                <a:latin typeface="Arial" panose="020B0604020202020204" pitchFamily="34" charset="0"/>
                <a:cs typeface="Arial" panose="020B0604020202020204" pitchFamily="34" charset="0"/>
              </a:rPr>
              <a:t>Не нашла в дипломе, вставь, пожалуйста</a:t>
            </a:r>
            <a:endParaRPr lang="ru-RU" sz="3200" dirty="0">
              <a:latin typeface="Arial Narrow" panose="020B0606020202030204" pitchFamily="34" charset="0"/>
              <a:cs typeface="Gautam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34944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ерая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151</Words>
  <Application>Microsoft Office PowerPoint</Application>
  <PresentationFormat>Широкоэкранный</PresentationFormat>
  <Paragraphs>34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5" baseType="lpstr">
      <vt:lpstr>Arial</vt:lpstr>
      <vt:lpstr>Arial Black</vt:lpstr>
      <vt:lpstr>Arial Narrow</vt:lpstr>
      <vt:lpstr>Arial Nova Light</vt:lpstr>
      <vt:lpstr>Calibri</vt:lpstr>
      <vt:lpstr>Calibri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Татьяна Сергеевна Уманец</dc:creator>
  <cp:lastModifiedBy>Артем А. Богунов</cp:lastModifiedBy>
  <cp:revision>23</cp:revision>
  <dcterms:created xsi:type="dcterms:W3CDTF">2022-06-04T14:45:18Z</dcterms:created>
  <dcterms:modified xsi:type="dcterms:W3CDTF">2022-06-08T21:04:18Z</dcterms:modified>
</cp:coreProperties>
</file>