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7" r:id="rId6"/>
    <p:sldId id="261" r:id="rId7"/>
    <p:sldId id="264" r:id="rId8"/>
    <p:sldId id="268" r:id="rId9"/>
    <p:sldId id="262" r:id="rId10"/>
    <p:sldId id="269" r:id="rId11"/>
    <p:sldId id="265" r:id="rId12"/>
    <p:sldId id="266" r:id="rId13"/>
    <p:sldId id="26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D88"/>
    <a:srgbClr val="EADA9E"/>
    <a:srgbClr val="E8E5A0"/>
    <a:srgbClr val="B3D5B4"/>
    <a:srgbClr val="93C394"/>
    <a:srgbClr val="FFEDB3"/>
    <a:srgbClr val="FFDE75"/>
    <a:srgbClr val="A8AEC4"/>
    <a:srgbClr val="AAC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C2E03-6B42-1698-717F-D6FA95621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4B889E-214E-6966-CA45-01507D4BF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E84FA6-A81B-FCDA-33E0-72D9102C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23A65F-DF76-F38E-8E20-982CB7CA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329EA7-7295-DEBC-1F1A-A2AFAD1A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952B3-E60D-582E-5A58-10B56A2D4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F761A1-81C2-00F4-5E50-8A8B7C6D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E3897-7EDC-96AB-81E0-089C2272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D38535-EECA-FA41-4764-B38A6B2B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52B01-93F9-2BFA-24C3-06739D9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42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040ED-5B87-C560-DF35-934CD367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66A89C-C5E9-D14B-313E-9DE7C63DA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8AED4-7C5A-7EDF-FA7F-820BB4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727166-A176-170B-4BE4-B26EFF6E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8F3D7D-4074-FAA0-2DFC-4A16CE6A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2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3E528-C08A-69AC-2768-82646962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036377-4C9A-366F-B235-B686A326C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1DB9DF-F962-2BF6-E539-6053F36BE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89FC0B-EDA9-C587-341D-EFD95DAD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ECABA3-D770-FFED-4FA5-6588C0D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100609-384B-C8D7-2DC6-0B3C4188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7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DB0E2-CD1A-295D-376D-3D614985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A66236-B218-F89C-F1D6-1211CFC10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2FD929-747F-91AA-30B4-832B341E0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84FCF4-C264-8200-88ED-1C91E23E3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D8C05A-3E1C-0C6A-C535-44881B54D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F73D5E-0EEB-F529-3688-36BF913F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024AA9-F1B8-3DD0-E4A5-E5FC6E73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747184-76F3-EE61-2A79-A7927531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85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6B12B-2991-C956-EA40-309553DA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433F2A-6A11-4F43-9F8E-3C20D57B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0EF943-C484-FDFB-8E53-A734ADB7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E4E2CB-EF74-E862-32CF-0867D968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22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ECF6C5-05FA-CD72-0172-F456D597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14E6A-5CF2-31DB-EAA7-EF6F2BAD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E6231F-3106-C7FD-F2C7-EA54D10F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48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E0AB0-6E2E-8FBA-D425-7E6886D8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1C64B-0FF0-F6DC-7CEE-7D0C8D36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40E671-26D0-91C1-3488-7F2ADFE4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83417-274C-2D8A-CAAC-6F602B62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AD79C1-5E18-6245-17D7-E61E3840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9868EE-33EC-0281-9314-92F021D2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66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0DE31-A790-50CE-0E08-33A6E64E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B8E8C-D93A-66AB-358A-5321BC23E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AE571F-2793-256E-D231-B00F3E14C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BD4B2E-4ABD-23BF-CBD0-A90CEB36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E29B68-017E-725D-A71E-167C324D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66533-AB09-D728-950A-F1A10A59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1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8FF22-BEDC-C7F6-089D-AACB2B5F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1C3460-49ED-7EFE-88A4-AE0DD5EF9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B85642-552B-543E-985F-D85AB5F8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D5B2B-7595-1257-1518-02FC1D4C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F805D3-52BD-ED05-3BB5-207A6657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23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BB17B1-5529-80E5-E3E3-A7F5C7F12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FE8106-E589-4F05-9E7A-4986A0F42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5BE1F8-F120-6EF9-EABB-E11E193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68F17E-E2B1-8B1D-8993-3C17FC1B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911D61-2DEA-ED8F-7179-7B69F302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0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54338-6B8C-3C9C-77E5-D5C9235B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F4944-617B-97EE-C15E-A32561E42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FB5C51-B12B-9AA8-62DA-36AB97D1C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A6E1B-0D88-4A34-B162-82492BF04209}" type="datetimeFigureOut">
              <a:rPr lang="ru-RU" smtClean="0"/>
              <a:t>09.06.2022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4C604-63EF-88FA-D3AC-94837189F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E87D7-C33A-972C-D3C4-F6050DABD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4A19-28A6-48BE-9510-1A5C9940F1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03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9682D9-3AF2-17C8-1910-45694FC04421}"/>
              </a:ext>
            </a:extLst>
          </p:cNvPr>
          <p:cNvSpPr txBox="1"/>
          <p:nvPr/>
        </p:nvSpPr>
        <p:spPr>
          <a:xfrm>
            <a:off x="550506" y="472008"/>
            <a:ext cx="11308702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2000" b="1" dirty="0">
                <a:latin typeface="Arial Nova Light" panose="020B0604020202020204" pitchFamily="34" charset="0"/>
              </a:rPr>
              <a:t>«БЕЛГОРОДСКИЙ ГОСУДАРСТВЕННЫЙ ТЕХНОЛОГИЧЕСКИЙ УНИВЕРСИТЕТ им. В.Г. ШУХОВА»</a:t>
            </a:r>
            <a:endParaRPr lang="en-US" sz="2000" b="1" dirty="0">
              <a:latin typeface="Arial Nova Light" panose="020B0604020202020204" pitchFamily="34" charset="0"/>
            </a:endParaRPr>
          </a:p>
          <a:p>
            <a:r>
              <a:rPr lang="ru-RU" sz="2000" b="1" dirty="0">
                <a:latin typeface="Arial Nova Light" panose="020B0604020202020204" pitchFamily="34" charset="0"/>
              </a:rPr>
              <a:t>Институт энергетики, информационных технологий и управляющих систем</a:t>
            </a:r>
            <a:endParaRPr lang="en-US" sz="2000" b="1" dirty="0">
              <a:latin typeface="Arial Nova Light" panose="020B0604020202020204" pitchFamily="34" charset="0"/>
            </a:endParaRPr>
          </a:p>
          <a:p>
            <a:r>
              <a:rPr lang="ru-RU" sz="2000" b="1" dirty="0">
                <a:latin typeface="Arial Nova Light" panose="020B0604020202020204" pitchFamily="34" charset="0"/>
              </a:rPr>
              <a:t>Кафедра информационных технологий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1641F-13BA-31BE-152B-DDCC04E98930}"/>
              </a:ext>
            </a:extLst>
          </p:cNvPr>
          <p:cNvSpPr txBox="1"/>
          <p:nvPr/>
        </p:nvSpPr>
        <p:spPr>
          <a:xfrm>
            <a:off x="550506" y="2828835"/>
            <a:ext cx="11582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Arial Narrow" panose="020B0606020202030204" pitchFamily="34" charset="0"/>
              </a:rPr>
              <a:t>ВЫПУСКНАЯ КВАЛИФИКАЦИОННАЯ РАБОТА</a:t>
            </a:r>
          </a:p>
          <a:p>
            <a:r>
              <a:rPr lang="ru-RU" sz="2400" b="1" dirty="0">
                <a:latin typeface="Arial Narrow" panose="020B0606020202030204" pitchFamily="34" charset="0"/>
              </a:rPr>
              <a:t>«ПОДСИСТЕМА УПРАВЛЕНИЯ ПОЕЗДОМ В СИМУЛЯТОРЕ МОСКОВСКОГО МЕТРОПОЛИТЕНА» </a:t>
            </a:r>
            <a:endParaRPr lang="ru-RU" sz="2800" b="1" dirty="0">
              <a:latin typeface="Arial Narrow" panose="020B0606020202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BA6D05-F6BA-9441-02DA-7B2811AAC74D}"/>
              </a:ext>
            </a:extLst>
          </p:cNvPr>
          <p:cNvSpPr txBox="1"/>
          <p:nvPr/>
        </p:nvSpPr>
        <p:spPr>
          <a:xfrm>
            <a:off x="550506" y="4943449"/>
            <a:ext cx="4292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Arial Narrow" panose="020B0606020202030204" pitchFamily="34" charset="0"/>
              </a:rPr>
              <a:t>Дипломник: ст. гр. ИТ-42 </a:t>
            </a:r>
            <a:r>
              <a:rPr lang="ru-RU" sz="2000" b="1" dirty="0" err="1">
                <a:latin typeface="Arial Narrow" panose="020B0606020202030204" pitchFamily="34" charset="0"/>
              </a:rPr>
              <a:t>Богунов</a:t>
            </a:r>
            <a:r>
              <a:rPr lang="ru-RU" sz="2000" b="1" dirty="0">
                <a:latin typeface="Arial Narrow" panose="020B0606020202030204" pitchFamily="34" charset="0"/>
              </a:rPr>
              <a:t> А.А. </a:t>
            </a:r>
          </a:p>
          <a:p>
            <a:r>
              <a:rPr lang="ru-RU" sz="2000" b="1" dirty="0">
                <a:latin typeface="Arial Narrow" panose="020B0606020202030204" pitchFamily="34" charset="0"/>
              </a:rPr>
              <a:t>Руководитель: ст. пр. Подгорный Н.Н.</a:t>
            </a:r>
            <a:endParaRPr lang="ru-RU" sz="2400" b="1" dirty="0">
              <a:latin typeface="Arial Narrow" panose="020B0606020202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1BE41-CEF9-B6F8-B016-BECB05F43BB4}"/>
              </a:ext>
            </a:extLst>
          </p:cNvPr>
          <p:cNvSpPr txBox="1"/>
          <p:nvPr/>
        </p:nvSpPr>
        <p:spPr>
          <a:xfrm>
            <a:off x="5240693" y="6047438"/>
            <a:ext cx="17106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 Nova Light" panose="020B0304020202020204" pitchFamily="34" charset="0"/>
              </a:rPr>
              <a:t>БЕЛГОРОД 2022</a:t>
            </a:r>
            <a:endParaRPr lang="ru-RU" dirty="0"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7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ЦЕЛИ И ЗАДАЧИ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C1988-801B-D566-CFD9-ADD114A1C611}"/>
              </a:ext>
            </a:extLst>
          </p:cNvPr>
          <p:cNvSpPr txBox="1"/>
          <p:nvPr/>
        </p:nvSpPr>
        <p:spPr>
          <a:xfrm>
            <a:off x="314129" y="1175793"/>
            <a:ext cx="11563741" cy="422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Целью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 данной работы является </a:t>
            </a:r>
          </a:p>
          <a:p>
            <a:pPr>
              <a:lnSpc>
                <a:spcPct val="150000"/>
              </a:lnSpc>
            </a:pPr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задачи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Реализация ввода пользователя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модуля движения модели поезда; 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модулей для взаимодействия с вспомогательными системами поезда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Создание инструментом для упрощенной работы с системой</a:t>
            </a: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Связь подсистемы с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визуальной частью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ru-RU" sz="22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Написание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unit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-тестов для автоматизации процесса тестирования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3200" dirty="0">
              <a:latin typeface="Arial Narrow" panose="020B0606020202030204" pitchFamily="34" charset="0"/>
              <a:cs typeface="Gautam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2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C7225EE-EF76-125E-AF59-4682D919DC33}"/>
              </a:ext>
            </a:extLst>
          </p:cNvPr>
          <p:cNvGrpSpPr/>
          <p:nvPr/>
        </p:nvGrpSpPr>
        <p:grpSpPr>
          <a:xfrm>
            <a:off x="11706808" y="223946"/>
            <a:ext cx="186613" cy="757713"/>
            <a:chOff x="11706808" y="223946"/>
            <a:chExt cx="186613" cy="757713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A0B1644-47E5-4216-5AA9-FBD3CED3190E}"/>
                </a:ext>
              </a:extLst>
            </p:cNvPr>
            <p:cNvSpPr/>
            <p:nvPr/>
          </p:nvSpPr>
          <p:spPr>
            <a:xfrm>
              <a:off x="11706808" y="2239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C222AC4F-DDDB-2EC3-D299-6ED4C3202D27}"/>
                </a:ext>
              </a:extLst>
            </p:cNvPr>
            <p:cNvSpPr/>
            <p:nvPr/>
          </p:nvSpPr>
          <p:spPr>
            <a:xfrm>
              <a:off x="11706808" y="50949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5BA4AD12-363A-674E-94DA-A930B7C4A9AB}"/>
                </a:ext>
              </a:extLst>
            </p:cNvPr>
            <p:cNvSpPr/>
            <p:nvPr/>
          </p:nvSpPr>
          <p:spPr>
            <a:xfrm>
              <a:off x="11706808" y="7950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6536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3128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АНАЛОГИ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6F2614-F05A-4767-F0FF-70E8E93E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064" y="996805"/>
            <a:ext cx="3159967" cy="175130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355F4D4-876D-470F-DE09-5C382F16A0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/>
          <a:stretch/>
        </p:blipFill>
        <p:spPr bwMode="auto">
          <a:xfrm>
            <a:off x="7546064" y="2875102"/>
            <a:ext cx="2248470" cy="1739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4F4A66B-7F6B-E7D4-4DFE-DFE78FB20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064" y="4741721"/>
            <a:ext cx="3240970" cy="17596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F10780-CB9F-E245-DE43-F42934A217DF}"/>
              </a:ext>
            </a:extLst>
          </p:cNvPr>
          <p:cNvSpPr txBox="1"/>
          <p:nvPr/>
        </p:nvSpPr>
        <p:spPr>
          <a:xfrm>
            <a:off x="304800" y="1178002"/>
            <a:ext cx="6691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Subway Simulator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7A9B1-7C56-9514-110B-57F2301EDF14}"/>
              </a:ext>
            </a:extLst>
          </p:cNvPr>
          <p:cNvSpPr txBox="1"/>
          <p:nvPr/>
        </p:nvSpPr>
        <p:spPr>
          <a:xfrm>
            <a:off x="304800" y="2919374"/>
            <a:ext cx="66918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Учебный тренажёр для машиниста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449198-BBA2-AE64-66D6-31DB6EEE4F20}"/>
              </a:ext>
            </a:extLst>
          </p:cNvPr>
          <p:cNvSpPr txBox="1"/>
          <p:nvPr/>
        </p:nvSpPr>
        <p:spPr>
          <a:xfrm>
            <a:off x="304800" y="4701680"/>
            <a:ext cx="660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Hmmsim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Metro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26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КОНТЕКТНАЯ ДИАГРАММА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4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AA2A5B1-35AB-C6EC-6827-E8342CAAF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39" y="1061950"/>
            <a:ext cx="10688320" cy="512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8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Инструменты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F0270B6-9904-0DEF-A07C-8BA08B705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4722" y1="58056" x2="32222" y2="47500"/>
                        <a14:foregroundMark x1="32222" y1="47500" x2="53611" y2="41389"/>
                        <a14:foregroundMark x1="53611" y1="41389" x2="53889" y2="40833"/>
                        <a14:foregroundMark x1="66389" y1="82778" x2="43889" y2="41944"/>
                        <a14:foregroundMark x1="43889" y1="41944" x2="62222" y2="29167"/>
                        <a14:foregroundMark x1="62222" y1="29167" x2="70278" y2="28333"/>
                        <a14:foregroundMark x1="67778" y1="72222" x2="78056" y2="55833"/>
                        <a14:foregroundMark x1="78056" y1="55833" x2="70000" y2="53056"/>
                        <a14:foregroundMark x1="71111" y1="48056" x2="70278" y2="31389"/>
                        <a14:foregroundMark x1="70278" y1="31389" x2="50278" y2="22778"/>
                        <a14:foregroundMark x1="50278" y1="22778" x2="53056" y2="28611"/>
                        <a14:foregroundMark x1="52222" y1="19167" x2="43611" y2="30278"/>
                        <a14:foregroundMark x1="43611" y1="30278" x2="16389" y2="50000"/>
                        <a14:foregroundMark x1="16389" y1="50000" x2="39722" y2="70556"/>
                        <a14:foregroundMark x1="39722" y1="70556" x2="58056" y2="73056"/>
                        <a14:foregroundMark x1="58056" y1="73056" x2="59444" y2="78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38" y="1597423"/>
            <a:ext cx="2852030" cy="285203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EFAF055-A82F-4C95-E81D-A3B2776C7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000" b="93778" l="8889" r="89778">
                        <a14:foregroundMark x1="28889" y1="51111" x2="28889" y2="51111"/>
                        <a14:foregroundMark x1="15556" y1="62222" x2="26222" y2="73333"/>
                        <a14:foregroundMark x1="31556" y1="67556" x2="41778" y2="75111"/>
                        <a14:foregroundMark x1="44000" y1="75111" x2="59556" y2="69333"/>
                        <a14:foregroundMark x1="31556" y1="63556" x2="27111" y2="50222"/>
                        <a14:foregroundMark x1="24889" y1="44889" x2="32889" y2="33333"/>
                        <a14:foregroundMark x1="45778" y1="29333" x2="51556" y2="28000"/>
                        <a14:foregroundMark x1="62667" y1="30222" x2="70667" y2="34667"/>
                        <a14:foregroundMark x1="73778" y1="45778" x2="76000" y2="56000"/>
                        <a14:foregroundMark x1="79111" y1="45778" x2="79111" y2="45778"/>
                        <a14:foregroundMark x1="81333" y1="41333" x2="84000" y2="56444"/>
                        <a14:foregroundMark x1="82222" y1="65333" x2="77778" y2="68889"/>
                        <a14:foregroundMark x1="76889" y1="57333" x2="76000" y2="38667"/>
                        <a14:foregroundMark x1="33333" y1="37778" x2="28444" y2="25778"/>
                        <a14:foregroundMark x1="15556" y1="32889" x2="29778" y2="22222"/>
                        <a14:foregroundMark x1="45778" y1="19111" x2="49333" y2="18222"/>
                        <a14:foregroundMark x1="75556" y1="26222" x2="83556" y2="40000"/>
                        <a14:foregroundMark x1="86667" y1="46667" x2="87556" y2="53333"/>
                        <a14:foregroundMark x1="87111" y1="58667" x2="86222" y2="68889"/>
                        <a14:foregroundMark x1="85333" y1="72889" x2="80444" y2="77333"/>
                        <a14:foregroundMark x1="77333" y1="77778" x2="70667" y2="79556"/>
                        <a14:foregroundMark x1="63556" y1="70667" x2="68889" y2="64889"/>
                        <a14:foregroundMark x1="68000" y1="67556" x2="75111" y2="59111"/>
                        <a14:foregroundMark x1="82222" y1="68889" x2="89333" y2="65778"/>
                        <a14:foregroundMark x1="88444" y1="63111" x2="88444" y2="52889"/>
                        <a14:foregroundMark x1="87556" y1="36889" x2="87556" y2="32889"/>
                        <a14:foregroundMark x1="45778" y1="88444" x2="50222" y2="88444"/>
                        <a14:foregroundMark x1="48000" y1="4444" x2="51111" y2="5333"/>
                        <a14:foregroundMark x1="9333" y1="47556" x2="8889" y2="40444"/>
                        <a14:foregroundMark x1="51556" y1="93778" x2="52000" y2="86667"/>
                        <a14:foregroundMark x1="40444" y1="27556" x2="45333" y2="23111"/>
                        <a14:foregroundMark x1="73778" y1="40444" x2="77778" y2="44000"/>
                        <a14:foregroundMark x1="88889" y1="72000" x2="89778" y2="71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437" y="3722674"/>
            <a:ext cx="2770902" cy="277090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F510AEB-8202-03E8-8792-D4984CE8BB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997" y="4827950"/>
            <a:ext cx="3867642" cy="973203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5B00168-1499-B24E-F0F5-99A43DF9A8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134" y="2593367"/>
            <a:ext cx="2571750" cy="159067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E527C2-014A-324C-CAAD-0B5D307852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69" b="89974" l="7946" r="89922">
                        <a14:foregroundMark x1="72093" y1="42416" x2="58140" y2="30591"/>
                        <a14:foregroundMark x1="58140" y1="30591" x2="58915" y2="28278"/>
                        <a14:foregroundMark x1="70543" y1="23136" x2="69186" y2="25450"/>
                        <a14:foregroundMark x1="7946" y1="49357" x2="18217" y2="49357"/>
                        <a14:foregroundMark x1="23256" y1="57584" x2="23450" y2="54756"/>
                        <a14:foregroundMark x1="47287" y1="56041" x2="47287" y2="56041"/>
                        <a14:foregroundMark x1="52713" y1="58612" x2="52713" y2="58612"/>
                        <a14:foregroundMark x1="52519" y1="48843" x2="52519" y2="48843"/>
                        <a14:foregroundMark x1="56589" y1="58355" x2="56589" y2="58355"/>
                        <a14:foregroundMark x1="71124" y1="58612" x2="71124" y2="58612"/>
                        <a14:foregroundMark x1="85078" y1="60154" x2="85078" y2="60154"/>
                        <a14:foregroundMark x1="63760" y1="33419" x2="62597" y2="290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896" y="479671"/>
            <a:ext cx="2910675" cy="219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2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5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4CC9C3D-7843-D40E-1A75-EFACF5EF5597}"/>
              </a:ext>
            </a:extLst>
          </p:cNvPr>
          <p:cNvGrpSpPr/>
          <p:nvPr/>
        </p:nvGrpSpPr>
        <p:grpSpPr>
          <a:xfrm>
            <a:off x="11706808" y="223946"/>
            <a:ext cx="186613" cy="757713"/>
            <a:chOff x="11706808" y="223946"/>
            <a:chExt cx="186613" cy="757713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A6C340B-EC38-F294-1958-3F5AA9D8C4A0}"/>
                </a:ext>
              </a:extLst>
            </p:cNvPr>
            <p:cNvSpPr/>
            <p:nvPr/>
          </p:nvSpPr>
          <p:spPr>
            <a:xfrm>
              <a:off x="11706808" y="2239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C30F2E32-58D4-E0E6-2F99-80F2B537C4FE}"/>
                </a:ext>
              </a:extLst>
            </p:cNvPr>
            <p:cNvSpPr/>
            <p:nvPr/>
          </p:nvSpPr>
          <p:spPr>
            <a:xfrm>
              <a:off x="11706808" y="50949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B9D2B621-BEBF-CE00-7DD1-D8934E44A257}"/>
                </a:ext>
              </a:extLst>
            </p:cNvPr>
            <p:cNvSpPr/>
            <p:nvPr/>
          </p:nvSpPr>
          <p:spPr>
            <a:xfrm>
              <a:off x="11706808" y="7950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887CF3-5465-38C0-17BD-37C03DE3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952" y="1470698"/>
            <a:ext cx="9238095" cy="4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5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4213" y="393842"/>
            <a:ext cx="6366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Система движения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5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4CC9C3D-7843-D40E-1A75-EFACF5EF5597}"/>
              </a:ext>
            </a:extLst>
          </p:cNvPr>
          <p:cNvGrpSpPr/>
          <p:nvPr/>
        </p:nvGrpSpPr>
        <p:grpSpPr>
          <a:xfrm>
            <a:off x="11706808" y="223946"/>
            <a:ext cx="186613" cy="757713"/>
            <a:chOff x="11706808" y="223946"/>
            <a:chExt cx="186613" cy="757713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BA6C340B-EC38-F294-1958-3F5AA9D8C4A0}"/>
                </a:ext>
              </a:extLst>
            </p:cNvPr>
            <p:cNvSpPr/>
            <p:nvPr/>
          </p:nvSpPr>
          <p:spPr>
            <a:xfrm>
              <a:off x="11706808" y="2239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C30F2E32-58D4-E0E6-2F99-80F2B537C4FE}"/>
                </a:ext>
              </a:extLst>
            </p:cNvPr>
            <p:cNvSpPr/>
            <p:nvPr/>
          </p:nvSpPr>
          <p:spPr>
            <a:xfrm>
              <a:off x="11706808" y="50949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B9D2B621-BEBF-CE00-7DD1-D8934E44A257}"/>
                </a:ext>
              </a:extLst>
            </p:cNvPr>
            <p:cNvSpPr/>
            <p:nvPr/>
          </p:nvSpPr>
          <p:spPr>
            <a:xfrm>
              <a:off x="11706808" y="795046"/>
              <a:ext cx="186613" cy="186613"/>
            </a:xfrm>
            <a:prstGeom prst="ellipse">
              <a:avLst/>
            </a:prstGeom>
            <a:solidFill>
              <a:schemeClr val="tx2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627B56-63AD-E2F5-9622-5B99C560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00" y="1668236"/>
            <a:ext cx="10555888" cy="38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50509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Реализация движения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7" name="Рисунок 6" descr="Изображение выглядит как текст, электроника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9A94BB37-156D-BA25-5661-45FCC2BE4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77" y="1408834"/>
            <a:ext cx="10793045" cy="470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2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0" y="412030"/>
            <a:ext cx="5486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Подсистемы управления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DA63EB-A092-44B7-1EBD-A6419283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78" y="1257904"/>
            <a:ext cx="7902268" cy="5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05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264366" y="365211"/>
            <a:ext cx="5486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Реализация управления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64429E-ECCE-AA69-9398-72863156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28" y="1408834"/>
            <a:ext cx="8849097" cy="49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524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Расширения редактора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10" name="Рисунок 9" descr="Изображение выглядит как текст, табло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1C310545-07EC-C03F-A8C7-FD4F867D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00" y="2024645"/>
            <a:ext cx="3723640" cy="388556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табло, табличка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0BAA28D1-0108-8D82-6039-7A8F87B02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39" y="875641"/>
            <a:ext cx="3740150" cy="357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5209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rial Narrow" panose="020B0606020202030204" pitchFamily="34" charset="0"/>
              </a:rPr>
              <a:t>Тестирование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98F5A6-20C9-9C82-5E14-EDF0CB7FB03C}"/>
              </a:ext>
            </a:extLst>
          </p:cNvPr>
          <p:cNvSpPr/>
          <p:nvPr/>
        </p:nvSpPr>
        <p:spPr>
          <a:xfrm>
            <a:off x="11941629" y="0"/>
            <a:ext cx="93306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6</a:t>
            </a:r>
          </a:p>
        </p:txBody>
      </p:sp>
      <p:pic>
        <p:nvPicPr>
          <p:cNvPr id="7" name="Рисунок 6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D5771FD-056D-2686-E5B0-F8686F91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7" y="1156908"/>
            <a:ext cx="6895352" cy="36682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23D7FB-3D06-0DC3-F927-941387057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531" y="4582351"/>
            <a:ext cx="6017763" cy="21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9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1A844B-7627-0241-B45B-44F2D9D1EF05}"/>
              </a:ext>
            </a:extLst>
          </p:cNvPr>
          <p:cNvSpPr txBox="1"/>
          <p:nvPr/>
        </p:nvSpPr>
        <p:spPr>
          <a:xfrm>
            <a:off x="304801" y="412030"/>
            <a:ext cx="480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Arial Narrow" panose="020B0606020202030204" pitchFamily="34" charset="0"/>
              </a:rPr>
              <a:t>ИТОГИ</a:t>
            </a:r>
            <a:endParaRPr lang="ru-RU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A6B1-AFAA-B43F-424F-7D28736F06D2}"/>
              </a:ext>
            </a:extLst>
          </p:cNvPr>
          <p:cNvSpPr txBox="1"/>
          <p:nvPr/>
        </p:nvSpPr>
        <p:spPr>
          <a:xfrm>
            <a:off x="11525639" y="6183404"/>
            <a:ext cx="415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B498D-5736-7ABB-6631-1FFD80E1DD9B}"/>
              </a:ext>
            </a:extLst>
          </p:cNvPr>
          <p:cNvSpPr txBox="1"/>
          <p:nvPr/>
        </p:nvSpPr>
        <p:spPr>
          <a:xfrm>
            <a:off x="314129" y="1175793"/>
            <a:ext cx="11563741" cy="563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Все модули подсистемы реализованы 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Подсистема протестирована и внедрена в симулятор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Поддержка модулей обеспечена написанными авто-тестами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	Работа с подсистемой упрощена расширениями редактора</a:t>
            </a: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 процессе работы над ВКР: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1.  Была исследована предметная область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2.  Спроектирована и разработана подсистема</a:t>
            </a:r>
          </a:p>
          <a:p>
            <a:pPr>
              <a:lnSpc>
                <a:spcPct val="130000"/>
              </a:lnSpc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3.  Закреплены полученные в процессе обучения навыки</a:t>
            </a:r>
          </a:p>
          <a:p>
            <a:pPr>
              <a:lnSpc>
                <a:spcPct val="130000"/>
              </a:lnSpc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 descr="Флажок со сплошной заливкой">
            <a:extLst>
              <a:ext uri="{FF2B5EF4-FFF2-40B4-BE49-F238E27FC236}">
                <a16:creationId xmlns:a16="http://schemas.microsoft.com/office/drawing/2014/main" id="{6D539815-9D89-06E1-53E9-4B8A4C632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67" y="1277175"/>
            <a:ext cx="448520" cy="448520"/>
          </a:xfrm>
          <a:prstGeom prst="rect">
            <a:avLst/>
          </a:prstGeom>
        </p:spPr>
      </p:pic>
      <p:pic>
        <p:nvPicPr>
          <p:cNvPr id="10" name="Рисунок 9" descr="Флажок со сплошной заливкой">
            <a:extLst>
              <a:ext uri="{FF2B5EF4-FFF2-40B4-BE49-F238E27FC236}">
                <a16:creationId xmlns:a16="http://schemas.microsoft.com/office/drawing/2014/main" id="{F80DE54C-1A09-A950-C97F-AC85FAE2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67" y="1828714"/>
            <a:ext cx="448520" cy="448520"/>
          </a:xfrm>
          <a:prstGeom prst="rect">
            <a:avLst/>
          </a:prstGeom>
        </p:spPr>
      </p:pic>
      <p:pic>
        <p:nvPicPr>
          <p:cNvPr id="11" name="Рисунок 10" descr="Флажок со сплошной заливкой">
            <a:extLst>
              <a:ext uri="{FF2B5EF4-FFF2-40B4-BE49-F238E27FC236}">
                <a16:creationId xmlns:a16="http://schemas.microsoft.com/office/drawing/2014/main" id="{81B2B8AD-711A-4945-20E1-091F88C71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67" y="2380253"/>
            <a:ext cx="448520" cy="448520"/>
          </a:xfrm>
          <a:prstGeom prst="rect">
            <a:avLst/>
          </a:prstGeom>
        </p:spPr>
      </p:pic>
      <p:pic>
        <p:nvPicPr>
          <p:cNvPr id="12" name="Рисунок 11" descr="Флажок со сплошной заливкой">
            <a:extLst>
              <a:ext uri="{FF2B5EF4-FFF2-40B4-BE49-F238E27FC236}">
                <a16:creationId xmlns:a16="http://schemas.microsoft.com/office/drawing/2014/main" id="{2CEBEA70-B37F-CF6E-49C3-5B8FECB90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767" y="2931792"/>
            <a:ext cx="448520" cy="44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9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207</Words>
  <Application>Microsoft Office PowerPoint</Application>
  <PresentationFormat>Широкоэкранный</PresentationFormat>
  <Paragraphs>51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Arial Narrow</vt:lpstr>
      <vt:lpstr>Arial Nova Light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Татьяна Сергеевна Уманец</dc:creator>
  <cp:lastModifiedBy>Артем А. Богунов</cp:lastModifiedBy>
  <cp:revision>37</cp:revision>
  <dcterms:created xsi:type="dcterms:W3CDTF">2022-06-04T14:45:18Z</dcterms:created>
  <dcterms:modified xsi:type="dcterms:W3CDTF">2022-06-09T00:13:27Z</dcterms:modified>
</cp:coreProperties>
</file>