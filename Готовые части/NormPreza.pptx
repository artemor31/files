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7" r:id="rId5"/>
    <p:sldId id="260" r:id="rId6"/>
    <p:sldId id="272" r:id="rId7"/>
    <p:sldId id="262" r:id="rId8"/>
    <p:sldId id="269" r:id="rId9"/>
    <p:sldId id="273" r:id="rId10"/>
    <p:sldId id="268" r:id="rId11"/>
    <p:sldId id="265" r:id="rId12"/>
    <p:sldId id="266" r:id="rId13"/>
    <p:sldId id="263" r:id="rId14"/>
    <p:sldId id="270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C394"/>
    <a:srgbClr val="B3D5B4"/>
    <a:srgbClr val="F8BD88"/>
    <a:srgbClr val="EADA9E"/>
    <a:srgbClr val="E8E5A0"/>
    <a:srgbClr val="FFEDB3"/>
    <a:srgbClr val="FFDE75"/>
    <a:srgbClr val="A8AEC4"/>
    <a:srgbClr val="AAC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Темный стиль 1 — акцент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3C2E03-6B42-1698-717F-D6FA95621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4B889E-214E-6966-CA45-01507D4BF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E84FA6-A81B-FCDA-33E0-72D9102C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23A65F-DF76-F38E-8E20-982CB7CA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329EA7-7295-DEBC-1F1A-A2AFAD1AF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565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952B3-E60D-582E-5A58-10B56A2D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F761A1-81C2-00F4-5E50-8A8B7C6D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E3897-7EDC-96AB-81E0-089C2272C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D38535-EECA-FA41-4764-B38A6B2B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952B01-93F9-2BFA-24C3-06739D9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42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E040ED-5B87-C560-DF35-934CD367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66A89C-C5E9-D14B-313E-9DE7C63DA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58AED4-7C5A-7EDF-FA7F-820BB4D84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727166-A176-170B-4BE4-B26EFF6E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8F3D7D-4074-FAA0-2DFC-4A16CE6A1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24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3E528-C08A-69AC-2768-82646962F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036377-4C9A-366F-B235-B686A326CF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1DB9DF-F962-2BF6-E539-6053F36BE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9FC0B-EDA9-C587-341D-EFD95DADF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ECABA3-D770-FFED-4FA5-6588C0DC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100609-384B-C8D7-2DC6-0B3C4188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70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DB0E2-CD1A-295D-376D-3D614985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A66236-B218-F89C-F1D6-1211CFC10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82FD929-747F-91AA-30B4-832B341E0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84FCF4-C264-8200-88ED-1C91E23E3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AD8C05A-3E1C-0C6A-C535-44881B54D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F73D5E-0EEB-F529-3688-36BF913F5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024AA9-F1B8-3DD0-E4A5-E5FC6E73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747184-76F3-EE61-2A79-A7927531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85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16B12B-2991-C956-EA40-309553DA9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9433F2A-6A11-4F43-9F8E-3C20D57B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B0EF943-C484-FDFB-8E53-A734ADB7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E4E2CB-EF74-E862-32CF-0867D968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221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BECF6C5-05FA-CD72-0172-F456D597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0614E6A-5CF2-31DB-EAA7-EF6F2BAD6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E6231F-3106-C7FD-F2C7-EA54D10F9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48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E0AB0-6E2E-8FBA-D425-7E6886D8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A1C64B-0FF0-F6DC-7CEE-7D0C8D36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40E671-26D0-91C1-3488-7F2ADFE4D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83417-274C-2D8A-CAAC-6F602B62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AD79C1-5E18-6245-17D7-E61E38406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9868EE-33EC-0281-9314-92F021D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266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0DE31-A790-50CE-0E08-33A6E64E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5AB8E8C-D93A-66AB-358A-5321BC23EA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AE571F-2793-256E-D231-B00F3E14C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BD4B2E-4ABD-23BF-CBD0-A90CEB36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E29B68-017E-725D-A71E-167C324D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366533-AB09-D728-950A-F1A10A59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1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8FF22-BEDC-C7F6-089D-AACB2B5F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E1C3460-49ED-7EFE-88A4-AE0DD5EF9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B85642-552B-543E-985F-D85AB5F8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7D5B2B-7595-1257-1518-02FC1D4C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F805D3-52BD-ED05-3BB5-207A6657C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231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FBB17B1-5529-80E5-E3E3-A7F5C7F129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FE8106-E589-4F05-9E7A-4986A0F42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5BE1F8-F120-6EF9-EABB-E11E1931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68F17E-E2B1-8B1D-8993-3C17FC1B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911D61-2DEA-ED8F-7179-7B69F302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30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54338-6B8C-3C9C-77E5-D5C9235B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2F4944-617B-97EE-C15E-A32561E42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FB5C51-B12B-9AA8-62DA-36AB97D1C9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A6E1B-0D88-4A34-B162-82492BF04209}" type="datetimeFigureOut">
              <a:rPr lang="ru-RU" smtClean="0"/>
              <a:t>19.06.2022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C4C604-63EF-88FA-D3AC-94837189F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E87D7-C33A-972C-D3C4-F6050DABD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03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3E9B3B9-D3FD-48DC-6B76-B7BB4B4F02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682D9-3AF2-17C8-1910-45694FC04421}"/>
              </a:ext>
            </a:extLst>
          </p:cNvPr>
          <p:cNvSpPr txBox="1"/>
          <p:nvPr/>
        </p:nvSpPr>
        <p:spPr>
          <a:xfrm>
            <a:off x="550506" y="472008"/>
            <a:ext cx="1130870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«БЕЛГОРОДСКИЙ ГОСУДАРСТВЕННЫЙ ТЕХНОЛОГИЧЕСКИЙ УНИВЕРСИТЕТ им. В.Г. ШУХОВА»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Институт энергетики, информационных технологий и управляющих систем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Кафедра информационных технологий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1641F-13BA-31BE-152B-DDCC04E98930}"/>
              </a:ext>
            </a:extLst>
          </p:cNvPr>
          <p:cNvSpPr txBox="1"/>
          <p:nvPr/>
        </p:nvSpPr>
        <p:spPr>
          <a:xfrm>
            <a:off x="550506" y="2828835"/>
            <a:ext cx="11582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ВЫПУСКНАЯ КВАЛИФИКАЦИОННАЯ РАБОТА</a:t>
            </a:r>
          </a:p>
          <a:p>
            <a:r>
              <a:rPr lang="ru-RU" sz="2400" b="1" dirty="0"/>
              <a:t>«ПОДСИСТЕМА УПРАВЛЕНИЯ ПОЕЗДОМ В СИМУЛЯТОРЕ МОСКОВСКОГО МЕТРОПОЛИТЕНА» </a:t>
            </a:r>
            <a:endParaRPr lang="ru-RU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6D05-F6BA-9441-02DA-7B2811AAC74D}"/>
              </a:ext>
            </a:extLst>
          </p:cNvPr>
          <p:cNvSpPr txBox="1"/>
          <p:nvPr/>
        </p:nvSpPr>
        <p:spPr>
          <a:xfrm>
            <a:off x="550506" y="4943449"/>
            <a:ext cx="54770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Выполнил: ст. гр. ИТ-42 </a:t>
            </a:r>
            <a:r>
              <a:rPr lang="ru-RU" sz="2000" b="1" dirty="0" err="1"/>
              <a:t>Богунов</a:t>
            </a:r>
            <a:r>
              <a:rPr lang="ru-RU" sz="2000" b="1" dirty="0"/>
              <a:t> А.А. </a:t>
            </a:r>
          </a:p>
          <a:p>
            <a:r>
              <a:rPr lang="ru-RU" sz="2000" b="1" dirty="0"/>
              <a:t>Руководитель: канд. Техн. наук Подгорный Н.Н.</a:t>
            </a:r>
            <a:endParaRPr lang="ru-RU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51BE41-CEF9-B6F8-B016-BECB05F43BB4}"/>
              </a:ext>
            </a:extLst>
          </p:cNvPr>
          <p:cNvSpPr txBox="1"/>
          <p:nvPr/>
        </p:nvSpPr>
        <p:spPr>
          <a:xfrm>
            <a:off x="5240693" y="6047438"/>
            <a:ext cx="17106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БЕЛГОРОД 2022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07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00E350-D6E6-2BC3-72C2-B0C0C8C71125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5860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ЦЕЛИ И ЗАДАЧИ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04800" y="1316114"/>
            <a:ext cx="115637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Цель:</a:t>
            </a:r>
            <a:r>
              <a:rPr lang="ru-RU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ru-R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Имитация работы машиниста в симуляторе московского метрополитена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5F9852-2581-4E7E-AC11-1C7527288EB4}"/>
              </a:ext>
            </a:extLst>
          </p:cNvPr>
          <p:cNvSpPr txBox="1"/>
          <p:nvPr/>
        </p:nvSpPr>
        <p:spPr>
          <a:xfrm>
            <a:off x="304799" y="2856464"/>
            <a:ext cx="11563741" cy="2922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Чтение ввода пользователя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Симуляция движения модели поезда 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Взаимодействие с вспомогательными системами поезда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Связь с визуальной частью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Хранение конфигураций модулей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Прохождение сценариев симуляции</a:t>
            </a:r>
            <a:endParaRPr lang="ru-RU" sz="24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FFFC73-E91E-C2D0-F292-2727A9166993}"/>
              </a:ext>
            </a:extLst>
          </p:cNvPr>
          <p:cNvSpPr txBox="1"/>
          <p:nvPr/>
        </p:nvSpPr>
        <p:spPr>
          <a:xfrm>
            <a:off x="304798" y="2394799"/>
            <a:ext cx="115637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Задачи:</a:t>
            </a:r>
            <a:endParaRPr lang="ru-RU" sz="2400" b="1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536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20400C-DBA7-E79C-63BD-78DE5A62D9CA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71596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Сравнительная таблица аналогов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3</a:t>
            </a:r>
          </a:p>
        </p:txBody>
      </p:sp>
      <p:graphicFrame>
        <p:nvGraphicFramePr>
          <p:cNvPr id="2" name="Таблица 5">
            <a:extLst>
              <a:ext uri="{FF2B5EF4-FFF2-40B4-BE49-F238E27FC236}">
                <a16:creationId xmlns:a16="http://schemas.microsoft.com/office/drawing/2014/main" id="{294FE0E8-745D-CD6A-7AAF-BE5CDDE4D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821290"/>
              </p:ext>
            </p:extLst>
          </p:nvPr>
        </p:nvGraphicFramePr>
        <p:xfrm>
          <a:off x="1220755" y="1171368"/>
          <a:ext cx="9602756" cy="5105426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1844582">
                  <a:extLst>
                    <a:ext uri="{9D8B030D-6E8A-4147-A177-3AD203B41FA5}">
                      <a16:colId xmlns:a16="http://schemas.microsoft.com/office/drawing/2014/main" val="3280204703"/>
                    </a:ext>
                  </a:extLst>
                </a:gridCol>
                <a:gridCol w="1783606">
                  <a:extLst>
                    <a:ext uri="{9D8B030D-6E8A-4147-A177-3AD203B41FA5}">
                      <a16:colId xmlns:a16="http://schemas.microsoft.com/office/drawing/2014/main" val="49853346"/>
                    </a:ext>
                  </a:extLst>
                </a:gridCol>
                <a:gridCol w="2705896">
                  <a:extLst>
                    <a:ext uri="{9D8B030D-6E8A-4147-A177-3AD203B41FA5}">
                      <a16:colId xmlns:a16="http://schemas.microsoft.com/office/drawing/2014/main" val="2298664248"/>
                    </a:ext>
                  </a:extLst>
                </a:gridCol>
                <a:gridCol w="3268672">
                  <a:extLst>
                    <a:ext uri="{9D8B030D-6E8A-4147-A177-3AD203B41FA5}">
                      <a16:colId xmlns:a16="http://schemas.microsoft.com/office/drawing/2014/main" val="4039840141"/>
                    </a:ext>
                  </a:extLst>
                </a:gridCol>
              </a:tblGrid>
              <a:tr h="784022">
                <a:tc>
                  <a:txBody>
                    <a:bodyPr/>
                    <a:lstStyle/>
                    <a:p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Subway Simulator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Тренажер машиниста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hmmsim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metro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221595"/>
                  </a:ext>
                </a:extLst>
              </a:tr>
              <a:tr h="670787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Возможность обучения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310592"/>
                  </a:ext>
                </a:extLst>
              </a:tr>
              <a:tr h="139990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Достаточный уровень реализации кабины машиниста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080432"/>
                  </a:ext>
                </a:extLst>
              </a:tr>
              <a:tr h="107866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Возможность личного использования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9148"/>
                  </a:ext>
                </a:extLst>
              </a:tr>
              <a:tr h="107866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Гибкость в настройках и параметрах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70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8263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Инструменты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7FC534-546C-CF67-7F51-C0570E1603A8}"/>
              </a:ext>
            </a:extLst>
          </p:cNvPr>
          <p:cNvSpPr txBox="1"/>
          <p:nvPr/>
        </p:nvSpPr>
        <p:spPr>
          <a:xfrm>
            <a:off x="304801" y="1408835"/>
            <a:ext cx="921242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Игровой движок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Unity</a:t>
            </a:r>
          </a:p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Язык программирования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C#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21498ED-DE9C-9BFB-428C-2C61E840B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9476" y="3330229"/>
            <a:ext cx="2853175" cy="285317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580AC10-B884-7412-B4F3-2BE58F66C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423" b="94053" l="9451" r="89451">
                        <a14:foregroundMark x1="20440" y1="74670" x2="20440" y2="74670"/>
                        <a14:foregroundMark x1="18901" y1="72907" x2="15165" y2="45374"/>
                        <a14:foregroundMark x1="15165" y1="45374" x2="27473" y2="19604"/>
                        <a14:foregroundMark x1="27473" y1="19604" x2="54945" y2="13436"/>
                        <a14:foregroundMark x1="54945" y1="13436" x2="73846" y2="18722"/>
                        <a14:foregroundMark x1="73846" y1="18722" x2="83736" y2="42952"/>
                        <a14:foregroundMark x1="83736" y1="42952" x2="81978" y2="60793"/>
                        <a14:foregroundMark x1="81978" y1="60793" x2="60220" y2="67621"/>
                        <a14:foregroundMark x1="60220" y1="67621" x2="61978" y2="38987"/>
                        <a14:foregroundMark x1="61978" y1="38987" x2="57582" y2="21586"/>
                        <a14:foregroundMark x1="57582" y1="21586" x2="31868" y2="37665"/>
                        <a14:foregroundMark x1="31868" y1="37665" x2="35165" y2="69604"/>
                        <a14:foregroundMark x1="35165" y1="69604" x2="55604" y2="77313"/>
                        <a14:foregroundMark x1="55604" y1="77313" x2="63956" y2="69824"/>
                        <a14:foregroundMark x1="31429" y1="68722" x2="26593" y2="48018"/>
                        <a14:foregroundMark x1="26813" y1="41189" x2="26813" y2="41189"/>
                        <a14:foregroundMark x1="29451" y1="37445" x2="39560" y2="27753"/>
                        <a14:foregroundMark x1="26374" y1="42070" x2="39121" y2="25330"/>
                        <a14:foregroundMark x1="39121" y1="25330" x2="39121" y2="25330"/>
                        <a14:foregroundMark x1="18242" y1="47357" x2="31429" y2="33040"/>
                        <a14:foregroundMark x1="31429" y1="33040" x2="25934" y2="27974"/>
                        <a14:foregroundMark x1="17363" y1="29515" x2="43516" y2="14317"/>
                        <a14:foregroundMark x1="58022" y1="12335" x2="74505" y2="42731"/>
                        <a14:foregroundMark x1="83077" y1="60132" x2="81099" y2="40529"/>
                        <a14:foregroundMark x1="81099" y1="40529" x2="79780" y2="38326"/>
                        <a14:foregroundMark x1="74945" y1="38106" x2="79121" y2="63216"/>
                        <a14:foregroundMark x1="68791" y1="70485" x2="65495" y2="71806"/>
                        <a14:foregroundMark x1="39780" y1="74449" x2="39780" y2="74449"/>
                        <a14:foregroundMark x1="16044" y1="44053" x2="16044" y2="44053"/>
                        <a14:foregroundMark x1="26154" y1="74009" x2="26154" y2="74009"/>
                        <a14:foregroundMark x1="20220" y1="69383" x2="45714" y2="86784"/>
                        <a14:foregroundMark x1="55165" y1="86564" x2="77143" y2="79075"/>
                        <a14:foregroundMark x1="77143" y1="79075" x2="83297" y2="70044"/>
                        <a14:foregroundMark x1="41978" y1="79075" x2="41978" y2="79075"/>
                        <a14:foregroundMark x1="26154" y1="60573" x2="26154" y2="60573"/>
                        <a14:foregroundMark x1="86154" y1="46476" x2="86154" y2="46476"/>
                        <a14:foregroundMark x1="73626" y1="21366" x2="73626" y2="21366"/>
                        <a14:foregroundMark x1="50110" y1="7048" x2="50110" y2="7048"/>
                        <a14:foregroundMark x1="49451" y1="2423" x2="49451" y2="2423"/>
                        <a14:foregroundMark x1="49670" y1="94053" x2="49670" y2="9405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52127" y="3415580"/>
            <a:ext cx="2773920" cy="27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329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20A429C-54C8-353B-4F60-4F472CB92A6E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F33FC1-4A5A-6754-AFAB-107C5F72DBDB}"/>
              </a:ext>
            </a:extLst>
          </p:cNvPr>
          <p:cNvSpPr txBox="1"/>
          <p:nvPr/>
        </p:nvSpPr>
        <p:spPr>
          <a:xfrm>
            <a:off x="370115" y="251067"/>
            <a:ext cx="921242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последовательности</a:t>
            </a:r>
            <a:endParaRPr 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D106562-A380-CBE0-A249-2E07A0772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394" y="1271575"/>
            <a:ext cx="10231142" cy="491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85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295469" y="234744"/>
            <a:ext cx="82140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Валидатор ввода пользователя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33FE87E-FA5D-4DD5-ED45-DE5FD8C8F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869" y="1095975"/>
            <a:ext cx="5962260" cy="544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80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6EF710C-30F6-8510-59EB-F60767F738D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8652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Вспомогательные системы поезда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D43634A-E31B-1F72-65B0-6ADE9B850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047" y="1331831"/>
            <a:ext cx="8961905" cy="4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05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7CDDE1F-7669-3713-EF2E-83F9FA89D37F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83353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Вспомогательные системы поезда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8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64429E-ECCE-AA69-9398-72863156E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95" y="1240882"/>
            <a:ext cx="9181907" cy="509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62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6EF710C-30F6-8510-59EB-F60767F738D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4985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Система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59072" y="6183404"/>
            <a:ext cx="3747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9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45529B9-A389-9B13-7F10-4FFBC2031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916" y="1620113"/>
            <a:ext cx="8247619" cy="4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11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856B740-18A9-6D88-C1EC-770780CA334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0696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Система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318033" y="6183404"/>
            <a:ext cx="6235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7" name="Рисунок 6" descr="Изображение выглядит как текст, электроника, компьютер&#10;&#10;Автоматически созданное описание">
            <a:extLst>
              <a:ext uri="{FF2B5EF4-FFF2-40B4-BE49-F238E27FC236}">
                <a16:creationId xmlns:a16="http://schemas.microsoft.com/office/drawing/2014/main" id="{9A94BB37-156D-BA25-5661-45FCC2BE4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77" y="1408834"/>
            <a:ext cx="10793045" cy="470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254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2D68066-1557-7F39-F0ED-5B7B479DC502}"/>
              </a:ext>
            </a:extLst>
          </p:cNvPr>
          <p:cNvSpPr/>
          <p:nvPr/>
        </p:nvSpPr>
        <p:spPr>
          <a:xfrm>
            <a:off x="-1" y="9331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73649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Хранение конфигураций модулей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280710" y="6183404"/>
            <a:ext cx="6609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11" name="Рисунок 10" descr="Изображение выглядит как текст, табло, табличка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BAA28D1-0108-8D82-6039-7A8F87B02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733" y="595078"/>
            <a:ext cx="3740150" cy="3578860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табло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C310545-07EC-C03F-A8C7-FD4F867D7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160" y="2847791"/>
            <a:ext cx="3723640" cy="388556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64D4F83-D5A2-DDEC-04C5-CE8A57DD46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17" y="1470391"/>
            <a:ext cx="3605388" cy="4809934"/>
          </a:xfrm>
          <a:prstGeom prst="rect">
            <a:avLst/>
          </a:prstGeom>
        </p:spPr>
      </p:pic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EC80F7E1-BB09-0B84-1E16-1EC30FA73CB1}"/>
              </a:ext>
            </a:extLst>
          </p:cNvPr>
          <p:cNvCxnSpPr>
            <a:cxnSpLocks/>
          </p:cNvCxnSpPr>
          <p:nvPr/>
        </p:nvCxnSpPr>
        <p:spPr>
          <a:xfrm>
            <a:off x="3792505" y="5103845"/>
            <a:ext cx="1376655" cy="0"/>
          </a:xfrm>
          <a:prstGeom prst="straightConnector1">
            <a:avLst/>
          </a:prstGeom>
          <a:ln w="6032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13DACE59-90FE-002D-5BDE-D525C6A11EF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952739" y="2384508"/>
            <a:ext cx="4311994" cy="0"/>
          </a:xfrm>
          <a:prstGeom prst="straightConnector1">
            <a:avLst/>
          </a:prstGeom>
          <a:ln w="6032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63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BBD1E4F-E39D-C912-9657-2A1D4C2BF1B2}"/>
              </a:ext>
            </a:extLst>
          </p:cNvPr>
          <p:cNvSpPr/>
          <p:nvPr/>
        </p:nvSpPr>
        <p:spPr>
          <a:xfrm>
            <a:off x="-1" y="9331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239486" y="248953"/>
            <a:ext cx="95110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Сценарии симуляции движения поезда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346024" y="6183404"/>
            <a:ext cx="5956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7" name="Рисунок 6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5D5771FD-056D-2686-E5B0-F8686F914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7" y="1156908"/>
            <a:ext cx="6895352" cy="366824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723D7FB-3D06-0DC3-F927-941387057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306" y="4078497"/>
            <a:ext cx="6017763" cy="219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93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Заключение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215396" y="6183404"/>
            <a:ext cx="7262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B498D-5736-7ABB-6631-1FFD80E1DD9B}"/>
              </a:ext>
            </a:extLst>
          </p:cNvPr>
          <p:cNvSpPr txBox="1"/>
          <p:nvPr/>
        </p:nvSpPr>
        <p:spPr>
          <a:xfrm>
            <a:off x="314129" y="1175793"/>
            <a:ext cx="10117495" cy="5635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Спроектированы модули подсистемы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Выполнена программная реализация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Связаны подсистемы с визуальной частью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Пройдены сценарии симуляции</a:t>
            </a: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3494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059E121-A59C-8BD0-C543-24295815C75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1424474" y="2790503"/>
            <a:ext cx="86059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0" b="1" dirty="0">
                <a:latin typeface="Arial Narrow" panose="020B0606020202030204" pitchFamily="34" charset="0"/>
              </a:rPr>
              <a:t>Благодарю за внимание !</a:t>
            </a:r>
          </a:p>
        </p:txBody>
      </p:sp>
    </p:spTree>
    <p:extLst>
      <p:ext uri="{BB962C8B-B14F-4D97-AF65-F5344CB8AC3E}">
        <p14:creationId xmlns:p14="http://schemas.microsoft.com/office/powerpoint/2010/main" val="2289686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2672</TotalTime>
  <Words>203</Words>
  <Application>Microsoft Office PowerPoint</Application>
  <PresentationFormat>Широкоэкранный</PresentationFormat>
  <Paragraphs>70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Arial Black</vt:lpstr>
      <vt:lpstr>Arial Narrow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Татьяна Сергеевна Уманец</dc:creator>
  <cp:lastModifiedBy>Артем А. Богунов</cp:lastModifiedBy>
  <cp:revision>126</cp:revision>
  <dcterms:created xsi:type="dcterms:W3CDTF">2022-06-04T14:45:18Z</dcterms:created>
  <dcterms:modified xsi:type="dcterms:W3CDTF">2022-06-19T07:34:01Z</dcterms:modified>
</cp:coreProperties>
</file>