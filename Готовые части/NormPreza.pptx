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9" r:id="rId5"/>
    <p:sldId id="267" r:id="rId6"/>
    <p:sldId id="260" r:id="rId7"/>
    <p:sldId id="272" r:id="rId8"/>
    <p:sldId id="264" r:id="rId9"/>
    <p:sldId id="268" r:id="rId10"/>
    <p:sldId id="262" r:id="rId11"/>
    <p:sldId id="269" r:id="rId12"/>
    <p:sldId id="265" r:id="rId13"/>
    <p:sldId id="266" r:id="rId14"/>
    <p:sldId id="263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BD88"/>
    <a:srgbClr val="EADA9E"/>
    <a:srgbClr val="E8E5A0"/>
    <a:srgbClr val="B3D5B4"/>
    <a:srgbClr val="93C394"/>
    <a:srgbClr val="FFEDB3"/>
    <a:srgbClr val="FFDE75"/>
    <a:srgbClr val="A8AEC4"/>
    <a:srgbClr val="AAC2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Темный стиль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Темный стиль 1 — акцент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C2E03-6B42-1698-717F-D6FA95621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4B889E-214E-6966-CA45-01507D4BF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E84FA6-A81B-FCDA-33E0-72D9102C1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13.06.2022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23A65F-DF76-F38E-8E20-982CB7CA6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329EA7-7295-DEBC-1F1A-A2AFAD1A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565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7952B3-E60D-582E-5A58-10B56A2D4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F761A1-81C2-00F4-5E50-8A8B7C6DF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4E3897-7EDC-96AB-81E0-089C2272C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13.06.2022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D38535-EECA-FA41-4764-B38A6B2BE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952B01-93F9-2BFA-24C3-06739D9F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422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E040ED-5B87-C560-DF35-934CD367B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66A89C-C5E9-D14B-313E-9DE7C63DA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58AED4-7C5A-7EDF-FA7F-820BB4D8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13.06.2022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727166-A176-170B-4BE4-B26EFF6E2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8F3D7D-4074-FAA0-2DFC-4A16CE6A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22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3E528-C08A-69AC-2768-82646962F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036377-4C9A-366F-B235-B686A326C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1DB9DF-F962-2BF6-E539-6053F36BE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89FC0B-EDA9-C587-341D-EFD95DAD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13.06.2022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ECABA3-D770-FFED-4FA5-6588C0DC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100609-384B-C8D7-2DC6-0B3C4188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70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DB0E2-CD1A-295D-376D-3D614985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A66236-B218-F89C-F1D6-1211CFC10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2FD929-747F-91AA-30B4-832B341E0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84FCF4-C264-8200-88ED-1C91E23E3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AD8C05A-3E1C-0C6A-C535-44881B54D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F73D5E-0EEB-F529-3688-36BF913F5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13.06.2022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A024AA9-F1B8-3DD0-E4A5-E5FC6E73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4747184-76F3-EE61-2A79-A7927531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852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16B12B-2991-C956-EA40-309553DA9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9433F2A-6A11-4F43-9F8E-3C20D57BA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13.06.2022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B0EF943-C484-FDFB-8E53-A734ADB7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E4E2CB-EF74-E862-32CF-0867D968C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221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BECF6C5-05FA-CD72-0172-F456D597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13.06.2022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614E6A-5CF2-31DB-EAA7-EF6F2BAD6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E6231F-3106-C7FD-F2C7-EA54D10F9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48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AE0AB0-6E2E-8FBA-D425-7E6886D82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A1C64B-0FF0-F6DC-7CEE-7D0C8D36F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40E671-26D0-91C1-3488-7F2ADFE4D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C83417-274C-2D8A-CAAC-6F602B62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13.06.2022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AD79C1-5E18-6245-17D7-E61E38406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9868EE-33EC-0281-9314-92F021D2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667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0DE31-A790-50CE-0E08-33A6E64E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AB8E8C-D93A-66AB-358A-5321BC23EA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AE571F-2793-256E-D231-B00F3E14C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BD4B2E-4ABD-23BF-CBD0-A90CEB369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13.06.2022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E29B68-017E-725D-A71E-167C324D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366533-AB09-D728-950A-F1A10A59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218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68FF22-BEDC-C7F6-089D-AACB2B5F7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1C3460-49ED-7EFE-88A4-AE0DD5EF9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B85642-552B-543E-985F-D85AB5F8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13.06.2022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7D5B2B-7595-1257-1518-02FC1D4C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F805D3-52BD-ED05-3BB5-207A6657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23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FBB17B1-5529-80E5-E3E3-A7F5C7F129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FE8106-E589-4F05-9E7A-4986A0F42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5BE1F8-F120-6EF9-EABB-E11E1931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13.06.2022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68F17E-E2B1-8B1D-8993-3C17FC1B9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911D61-2DEA-ED8F-7179-7B69F3029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30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654338-6B8C-3C9C-77E5-D5C9235B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2F4944-617B-97EE-C15E-A32561E42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FB5C51-B12B-9AA8-62DA-36AB97D1C9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A6E1B-0D88-4A34-B162-82492BF04209}" type="datetimeFigureOut">
              <a:rPr lang="ru-RU" smtClean="0"/>
              <a:t>13.06.2022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C4C604-63EF-88FA-D3AC-94837189F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DE87D7-C33A-972C-D3C4-F6050DABD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036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3E9B3B9-D3FD-48DC-6B76-B7BB4B4F02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DA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682D9-3AF2-17C8-1910-45694FC04421}"/>
              </a:ext>
            </a:extLst>
          </p:cNvPr>
          <p:cNvSpPr txBox="1"/>
          <p:nvPr/>
        </p:nvSpPr>
        <p:spPr>
          <a:xfrm>
            <a:off x="550506" y="472008"/>
            <a:ext cx="11308702" cy="13234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«БЕЛГОРОДСКИЙ ГОСУДАРСТВЕННЫЙ ТЕХНОЛОГИЧЕСКИЙ УНИВЕРСИТЕТ им. В.Г. ШУХОВА»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Институт энергетики, информационных технологий и управляющих систем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Кафедра информационных технологий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11641F-13BA-31BE-152B-DDCC04E98930}"/>
              </a:ext>
            </a:extLst>
          </p:cNvPr>
          <p:cNvSpPr txBox="1"/>
          <p:nvPr/>
        </p:nvSpPr>
        <p:spPr>
          <a:xfrm>
            <a:off x="550506" y="2828835"/>
            <a:ext cx="115824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ВЫПУСКНАЯ КВАЛИФИКАЦИОННАЯ РАБОТА</a:t>
            </a:r>
          </a:p>
          <a:p>
            <a:r>
              <a:rPr lang="ru-RU" sz="2400" b="1" dirty="0"/>
              <a:t>«ПОДСИСТЕМА УПРАВЛЕНИЯ ПОЕЗДОМ В СИМУЛЯТОРЕ МОСКОВСКОГО МЕТРОПОЛИТЕНА» </a:t>
            </a:r>
            <a:endParaRPr lang="ru-RU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BA6D05-F6BA-9441-02DA-7B2811AAC74D}"/>
              </a:ext>
            </a:extLst>
          </p:cNvPr>
          <p:cNvSpPr txBox="1"/>
          <p:nvPr/>
        </p:nvSpPr>
        <p:spPr>
          <a:xfrm>
            <a:off x="550506" y="4943449"/>
            <a:ext cx="5477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Выполнил: ст. гр. ИТ-42 </a:t>
            </a:r>
            <a:r>
              <a:rPr lang="ru-RU" sz="2000" b="1" dirty="0" err="1"/>
              <a:t>Богунов</a:t>
            </a:r>
            <a:r>
              <a:rPr lang="ru-RU" sz="2000" b="1" dirty="0"/>
              <a:t> А.А. </a:t>
            </a:r>
          </a:p>
          <a:p>
            <a:r>
              <a:rPr lang="ru-RU" sz="2000" b="1" dirty="0"/>
              <a:t>Руководитель: канд. Техн. наук Подгорный Н.Н.</a:t>
            </a:r>
            <a:endParaRPr lang="ru-RU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51BE41-CEF9-B6F8-B016-BECB05F43BB4}"/>
              </a:ext>
            </a:extLst>
          </p:cNvPr>
          <p:cNvSpPr txBox="1"/>
          <p:nvPr/>
        </p:nvSpPr>
        <p:spPr>
          <a:xfrm>
            <a:off x="5240693" y="6047438"/>
            <a:ext cx="17106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БЕЛГОРОД 2022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0778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700E350-D6E6-2BC3-72C2-B0C0C8C71125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8BD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0" y="412030"/>
            <a:ext cx="31288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ЦЕЛИ</a:t>
            </a:r>
            <a:endParaRPr lang="ru-RU" sz="3600" b="1" dirty="0"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C1988-801B-D566-CFD9-ADD114A1C611}"/>
              </a:ext>
            </a:extLst>
          </p:cNvPr>
          <p:cNvSpPr txBox="1"/>
          <p:nvPr/>
        </p:nvSpPr>
        <p:spPr>
          <a:xfrm>
            <a:off x="304800" y="1316114"/>
            <a:ext cx="115637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Реализовать подсистему управления поездом в симуляторе машиниста московского метрополитена. </a:t>
            </a:r>
          </a:p>
          <a:p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3200" dirty="0">
              <a:latin typeface="Arial Narrow" panose="020B0606020202030204" pitchFamily="34" charset="0"/>
              <a:cs typeface="Gautam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65360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6A2F7E4-6AF2-E92C-8B53-0C233082524B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8BD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0" y="412030"/>
            <a:ext cx="31288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ЗАДАЧИ</a:t>
            </a:r>
            <a:endParaRPr lang="ru-RU" sz="3600" b="1" dirty="0"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C1988-801B-D566-CFD9-ADD114A1C611}"/>
              </a:ext>
            </a:extLst>
          </p:cNvPr>
          <p:cNvSpPr txBox="1"/>
          <p:nvPr/>
        </p:nvSpPr>
        <p:spPr>
          <a:xfrm>
            <a:off x="304800" y="1316114"/>
            <a:ext cx="11563741" cy="382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Реализовать модуль чтения ввода пользователя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Разработать модуль движения модели поезда 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Разработать модули для взаимодействия с вспомогательными системами поезда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Создать инструменты для упрощенной работы с системой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Связать подсистемы с визуальной частью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Написать модульные тесты для автоматизации процесса тестирования</a:t>
            </a:r>
          </a:p>
          <a:p>
            <a:endParaRPr lang="ru-RU" sz="2400" dirty="0">
              <a:latin typeface="Arial Narrow" panose="020B0606020202030204" pitchFamily="34" charset="0"/>
              <a:cs typeface="Gautam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947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A20400C-DBA7-E79C-63BD-78DE5A62D9CA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8BD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0" y="412030"/>
            <a:ext cx="71596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Сравнительная таблица аналогов</a:t>
            </a:r>
            <a:endParaRPr lang="ru-RU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4</a:t>
            </a:r>
          </a:p>
        </p:txBody>
      </p:sp>
      <p:graphicFrame>
        <p:nvGraphicFramePr>
          <p:cNvPr id="2" name="Таблица 5">
            <a:extLst>
              <a:ext uri="{FF2B5EF4-FFF2-40B4-BE49-F238E27FC236}">
                <a16:creationId xmlns:a16="http://schemas.microsoft.com/office/drawing/2014/main" id="{294FE0E8-745D-CD6A-7AAF-BE5CDDE4D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131903"/>
              </p:ext>
            </p:extLst>
          </p:nvPr>
        </p:nvGraphicFramePr>
        <p:xfrm>
          <a:off x="1220755" y="1171368"/>
          <a:ext cx="9602756" cy="5105426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1844582">
                  <a:extLst>
                    <a:ext uri="{9D8B030D-6E8A-4147-A177-3AD203B41FA5}">
                      <a16:colId xmlns:a16="http://schemas.microsoft.com/office/drawing/2014/main" val="3280204703"/>
                    </a:ext>
                  </a:extLst>
                </a:gridCol>
                <a:gridCol w="1783606">
                  <a:extLst>
                    <a:ext uri="{9D8B030D-6E8A-4147-A177-3AD203B41FA5}">
                      <a16:colId xmlns:a16="http://schemas.microsoft.com/office/drawing/2014/main" val="49853346"/>
                    </a:ext>
                  </a:extLst>
                </a:gridCol>
                <a:gridCol w="2705896">
                  <a:extLst>
                    <a:ext uri="{9D8B030D-6E8A-4147-A177-3AD203B41FA5}">
                      <a16:colId xmlns:a16="http://schemas.microsoft.com/office/drawing/2014/main" val="2298664248"/>
                    </a:ext>
                  </a:extLst>
                </a:gridCol>
                <a:gridCol w="3268672">
                  <a:extLst>
                    <a:ext uri="{9D8B030D-6E8A-4147-A177-3AD203B41FA5}">
                      <a16:colId xmlns:a16="http://schemas.microsoft.com/office/drawing/2014/main" val="4039840141"/>
                    </a:ext>
                  </a:extLst>
                </a:gridCol>
              </a:tblGrid>
              <a:tr h="784022"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Subway Simulator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Тренажер машиниста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hmmsim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metro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221595"/>
                  </a:ext>
                </a:extLst>
              </a:tr>
              <a:tr h="670787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Возможность обучения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310592"/>
                  </a:ext>
                </a:extLst>
              </a:tr>
              <a:tr h="139990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Достаточный уровень реализации кабины машиниста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080432"/>
                  </a:ext>
                </a:extLst>
              </a:tr>
              <a:tr h="1078662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Возможность личного использования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9148"/>
                  </a:ext>
                </a:extLst>
              </a:tr>
              <a:tr h="1078662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Гибкость в настройках и параметрах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2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709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263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D61A3C7-4E6B-85AD-DD84-08739ED10AC7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8BD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1" y="412030"/>
            <a:ext cx="480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Инструменты</a:t>
            </a:r>
            <a:endParaRPr lang="ru-RU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7FC534-546C-CF67-7F51-C0570E1603A8}"/>
              </a:ext>
            </a:extLst>
          </p:cNvPr>
          <p:cNvSpPr txBox="1"/>
          <p:nvPr/>
        </p:nvSpPr>
        <p:spPr>
          <a:xfrm>
            <a:off x="304801" y="2480852"/>
            <a:ext cx="92124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Игровой движок – 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Unity</a:t>
            </a:r>
          </a:p>
          <a:p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Язык программирования – 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C#</a:t>
            </a:r>
          </a:p>
        </p:txBody>
      </p:sp>
    </p:spTree>
    <p:extLst>
      <p:ext uri="{BB962C8B-B14F-4D97-AF65-F5344CB8AC3E}">
        <p14:creationId xmlns:p14="http://schemas.microsoft.com/office/powerpoint/2010/main" val="2057329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20A429C-54C8-353B-4F60-4F472CB92A6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8BD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F33FC1-4A5A-6754-AFAB-107C5F72DBDB}"/>
              </a:ext>
            </a:extLst>
          </p:cNvPr>
          <p:cNvSpPr txBox="1"/>
          <p:nvPr/>
        </p:nvSpPr>
        <p:spPr>
          <a:xfrm>
            <a:off x="370115" y="251067"/>
            <a:ext cx="92124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последовательности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39617E3-AB0D-51D1-FC05-9F8819160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447" y="1406022"/>
            <a:ext cx="10190476" cy="48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85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D61A3C7-4E6B-85AD-DD84-08739ED10AC7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8BD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1" y="412030"/>
            <a:ext cx="82140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Считывание ввода пользователя</a:t>
            </a:r>
            <a:endParaRPr lang="ru-RU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7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3FE87E-FA5D-4DD5-ED45-DE5FD8C8F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869" y="1095975"/>
            <a:ext cx="5962260" cy="544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80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8225ECB-6164-6D98-B566-13E4C129B6E9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8BD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4213" y="393842"/>
            <a:ext cx="5050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 Narrow" panose="020B0606020202030204" pitchFamily="34" charset="0"/>
              </a:rPr>
              <a:t>Система движения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5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627B56-63AD-E2F5-9622-5B99C5603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00" y="1668236"/>
            <a:ext cx="10555888" cy="382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6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856B740-18A9-6D88-C1EC-770780CA3348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8BD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0" y="412030"/>
            <a:ext cx="50696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 Narrow" panose="020B0606020202030204" pitchFamily="34" charset="0"/>
              </a:rPr>
              <a:t>Реализация движения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6</a:t>
            </a:r>
          </a:p>
        </p:txBody>
      </p:sp>
      <p:pic>
        <p:nvPicPr>
          <p:cNvPr id="7" name="Рисунок 6" descr="Изображение выглядит как текст, электроника, компьютер&#10;&#10;Автоматически созданное описание">
            <a:extLst>
              <a:ext uri="{FF2B5EF4-FFF2-40B4-BE49-F238E27FC236}">
                <a16:creationId xmlns:a16="http://schemas.microsoft.com/office/drawing/2014/main" id="{9A94BB37-156D-BA25-5661-45FCC2BE4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77" y="1408834"/>
            <a:ext cx="10793045" cy="470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25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6EF710C-30F6-8510-59EB-F60767F738D8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8BD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0" y="412030"/>
            <a:ext cx="49856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 Narrow" panose="020B0606020202030204" pitchFamily="34" charset="0"/>
              </a:rPr>
              <a:t>Подсистемы управления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9C69E5-7167-D46B-E24D-7EABF519FCC3}"/>
              </a:ext>
            </a:extLst>
          </p:cNvPr>
          <p:cNvSpPr txBox="1"/>
          <p:nvPr/>
        </p:nvSpPr>
        <p:spPr>
          <a:xfrm>
            <a:off x="304800" y="1327473"/>
            <a:ext cx="921242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cs typeface="Arial" panose="020B0604020202020204" pitchFamily="34" charset="0"/>
              </a:rPr>
              <a:t>Батарея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cs typeface="Arial" panose="020B0604020202020204" pitchFamily="34" charset="0"/>
              </a:rPr>
              <a:t>МФДУ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cs typeface="Arial" panose="020B0604020202020204" pitchFamily="34" charset="0"/>
              </a:rPr>
              <a:t>Контроллер реверса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cs typeface="Arial" panose="020B0604020202020204" pitchFamily="34" charset="0"/>
              </a:rPr>
              <a:t>Пассажирские двери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cs typeface="Arial" panose="020B0604020202020204" pitchFamily="34" charset="0"/>
              </a:rPr>
              <a:t>Фары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cs typeface="Arial" panose="020B0604020202020204" pitchFamily="34" charset="0"/>
              </a:rPr>
              <a:t>Торможение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cs typeface="Arial" panose="020B0604020202020204" pitchFamily="34" charset="0"/>
              </a:rPr>
              <a:t>Индикаторы состояния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cs typeface="Arial" panose="020B0604020202020204" pitchFamily="34" charset="0"/>
              </a:rPr>
              <a:t>Камеры машиниста</a:t>
            </a:r>
            <a:endParaRPr lang="en-US" sz="28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205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7CDDE1F-7669-3713-EF2E-83F9FA89D37F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8BD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1" y="412030"/>
            <a:ext cx="50603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 Narrow" panose="020B0606020202030204" pitchFamily="34" charset="0"/>
              </a:rPr>
              <a:t>Реализация управления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6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364429E-ECCE-AA69-9398-72863156E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95" y="1240882"/>
            <a:ext cx="9181907" cy="509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62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2D68066-1557-7F39-F0ED-5B7B479DC502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8BD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1" y="412030"/>
            <a:ext cx="5125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 Narrow" panose="020B0606020202030204" pitchFamily="34" charset="0"/>
              </a:rPr>
              <a:t>Расширения редактора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6</a:t>
            </a:r>
          </a:p>
        </p:txBody>
      </p:sp>
      <p:pic>
        <p:nvPicPr>
          <p:cNvPr id="11" name="Рисунок 10" descr="Изображение выглядит как текст, табло, табличка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0BAA28D1-0108-8D82-6039-7A8F87B02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139" y="735195"/>
            <a:ext cx="3740150" cy="357886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88ED801-EF22-4720-8EE8-665ACFF33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1405380"/>
            <a:ext cx="3133333" cy="4638095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табло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1C310545-07EC-C03F-A8C7-FD4F867D7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230" y="2640457"/>
            <a:ext cx="3723640" cy="388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63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BBD1E4F-E39D-C912-9657-2A1D4C2BF1B2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8BD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239486" y="248953"/>
            <a:ext cx="4976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 Narrow" panose="020B0606020202030204" pitchFamily="34" charset="0"/>
              </a:rPr>
              <a:t>Тестирование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6</a:t>
            </a:r>
          </a:p>
        </p:txBody>
      </p:sp>
      <p:pic>
        <p:nvPicPr>
          <p:cNvPr id="7" name="Рисунок 6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5D5771FD-056D-2686-E5B0-F8686F914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7" y="1156908"/>
            <a:ext cx="6895352" cy="366824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723D7FB-3D06-0DC3-F927-941387057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306" y="4078497"/>
            <a:ext cx="6017763" cy="219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93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D61A3C7-4E6B-85AD-DD84-08739ED10AC7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8BD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1" y="412030"/>
            <a:ext cx="480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Заключение</a:t>
            </a:r>
            <a:endParaRPr lang="ru-RU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9B498D-5736-7ABB-6631-1FFD80E1DD9B}"/>
              </a:ext>
            </a:extLst>
          </p:cNvPr>
          <p:cNvSpPr txBox="1"/>
          <p:nvPr/>
        </p:nvSpPr>
        <p:spPr>
          <a:xfrm>
            <a:off x="314129" y="1175793"/>
            <a:ext cx="11563741" cy="5635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Проведен анализ предметной области</a:t>
            </a: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Спроектированы модули подсистемы</a:t>
            </a: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Выполнена программная реализация</a:t>
            </a: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Связаны подсистемы с визуальной частью</a:t>
            </a: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Выполнено модульное тестирование</a:t>
            </a:r>
          </a:p>
          <a:p>
            <a:pPr>
              <a:lnSpc>
                <a:spcPct val="130000"/>
              </a:lnSpc>
            </a:pP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49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D61A3C7-4E6B-85AD-DD84-08739ED10AC7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8BD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1424474" y="2790503"/>
            <a:ext cx="86059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0" b="1" dirty="0">
                <a:latin typeface="Arial Narrow" panose="020B0606020202030204" pitchFamily="34" charset="0"/>
              </a:rPr>
              <a:t>Благодарю за внимание 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89686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224</Words>
  <Application>Microsoft Office PowerPoint</Application>
  <PresentationFormat>Широкоэкранный</PresentationFormat>
  <Paragraphs>80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Arial Narrow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Татьяна Сергеевна Уманец</dc:creator>
  <cp:lastModifiedBy>Артем А. Богунов</cp:lastModifiedBy>
  <cp:revision>87</cp:revision>
  <dcterms:created xsi:type="dcterms:W3CDTF">2022-06-04T14:45:18Z</dcterms:created>
  <dcterms:modified xsi:type="dcterms:W3CDTF">2022-06-13T22:01:11Z</dcterms:modified>
</cp:coreProperties>
</file>